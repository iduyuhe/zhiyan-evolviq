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5" Type="http://schemas.openxmlformats.org/officeDocument/2006/relationships/notesMaster" Target="notesMasters/notesMaster1.xml" /><Relationship Id="rId11" Type="http://schemas.openxmlformats.org/officeDocument/2006/relationships/slide" Target="slides/slide11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position: 'relative', background: '#0B2545' }}&gt;&#10;  &lt;Image src=&quot;assets/hero_shipyard.png&quot; style={{ position: 'absolute', top: 0, left: 0, width: '100%', height: '100%', objectFit: 'cover' }} /&gt;&#10;  &lt;Box style={{ position: 'absolute', top: 0, left: 0, width: '100%', height: '100%', background: 'linear-gradient(135deg, rgba(11,37,69,0.85) 0%, rgba(11,37,69,0.55) 40%, rgba(11,37,69,0.2) 70%, transparent 100%)' }} /&gt;&#10;  &lt;Box style={{ position: 'relative', zIndex: 2, padding: '64px 64px 40px 64px', height: '100%', justifyContent: 'space-between', alignItems: 'flex-start' }}&gt;&#10;    &lt;Box style={{ flexDirection: 'column', gap: 8 }}&gt;&#10;      &lt;Text style={{ fontSize: 72, fontWeight: 'bold', color: '#ffffff', fontFamily: 'Microsoft YaHei', lineHeight: 1.1 }}&gt;智衍 EvolvIQ&lt;/Text&gt;&#10;      &lt;Text style={{ fontSize: 38, fontWeight: 'bold', color: '#06B6D4', fontFamily: 'Microsoft YaHei', letterSpacing: '4px' }}&gt;造船行业版&lt;/Text&gt;&#10;      &lt;Box style={{ width: 120, height: 6, background: '#06B6D4', marginTop: 28 }} /&gt;&#10;    &lt;/Box&gt;&#10;    &lt;Box style={{ flexDirection: 'column', gap: 12, maxWidth: 720 }}&gt;&#10;      &lt;Text style={{ fontSize: 26, color: '#F1F5F9', fontFamily: 'Microsoft YaHei', lineHeight: 1.5 }}&gt;工业 AI 决策大脑&lt;br /&gt;让每艘船从设计到交付全程可控&lt;/Text&gt;&#10;      &lt;Text style={{ fontSize: 16, color: '#94A3B8', fontFamily: 'Microsoft YaHei', marginTop: 20 }}&gt;杜玉河 · 工业 5 点 0 产业生态联盟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545">
                  <a:alpha val="85000"/>
                </a:srgbClr>
              </a:gs>
              <a:gs pos="40000">
                <a:srgbClr val="0B2545">
                  <a:alpha val="55000"/>
                </a:srgbClr>
              </a:gs>
              <a:gs pos="70000">
                <a:srgbClr val="0B2545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4200525" cy="9144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400" b="1">
                <a:solidFill>
                  <a:srgbClr val="FFFFFF"/>
                </a:solidFill>
                <a:latin typeface="Microsoft YaHei"/>
                <a:ea typeface="Microsoft YaHei"/>
              </a:rPr>
              <a:t>智衍</a:t>
            </a: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EvolvIQ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42005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 spc="300">
                <a:solidFill>
                  <a:srgbClr val="06B6D4"/>
                </a:solidFill>
                <a:latin typeface="Microsoft YaHei"/>
                <a:ea typeface="Microsoft YaHei"/>
              </a:rPr>
              <a:t>造船行业版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2381250"/>
            <a:ext cx="11430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5086350"/>
            <a:ext cx="346710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F1F5F9"/>
                </a:solidFill>
                <a:latin typeface="Microsoft YaHei"/>
                <a:ea typeface="Microsoft YaHei"/>
              </a:rPr>
              <a:t>工业</a:t>
            </a:r>
            <a:r>
              <a:rPr lang="en-US" sz="1950">
                <a:solidFill>
                  <a:srgbClr val="F1F5F9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950">
                <a:solidFill>
                  <a:srgbClr val="F1F5F9"/>
                </a:solidFill>
                <a:latin typeface="Microsoft YaHei"/>
                <a:ea typeface="Microsoft YaHei"/>
              </a:rPr>
              <a:t>决策大脑</a:t>
            </a:r>
            <a:endParaRPr/>
          </a:p>
          <a:p>
            <a:pPr>
              <a:lnSpc>
                <a:spcPct val="150000"/>
              </a:lnSpc>
            </a:pPr>
            <a:r>
              <a:rPr lang="zh-CN" sz="1950">
                <a:solidFill>
                  <a:srgbClr val="F1F5F9"/>
                </a:solidFill>
                <a:latin typeface="Microsoft YaHei"/>
                <a:ea typeface="Microsoft YaHei"/>
              </a:rPr>
              <a:t>让每艘船从设计到交付全程可控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6286500"/>
            <a:ext cx="3467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杜玉河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工业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点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产业生态联盟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6" name="" descr="&lt;Slide style={{ width: 1280, height: 720, position: 'relative', background: '#F1F5F9' }}&gt;&#10;  &lt;Box style={{ position: 'absolute', top: 0, left: 0, width: '100%', height: 120, background: '#0B2545', justifyContent: 'center', padding: '0 64' }}&gt;&#10;    &lt;Text style={{ fontSize: 34, fontWeight: 'bold', color: '#ffffff', fontFamily: 'Microsoft YaHei' }}&gt;内容导览&lt;/Text&gt;&#10;  &lt;/Box&gt;&#10;  &lt;Box style={{ height: 720, padding: '160 64 80 64', flexDirection: 'row', gap: 48 }}&gt;&#10;    &lt;Box style={{ width: '32%', height: '100%', background: 'linear-gradient(180deg, #0B2545 0%, #2563EB 100%)', borderRadius: 16, padding: 32, justifyContent: 'space-between' }}&gt;&#10;      &lt;Box&gt;&#10;        &lt;Text style={{ fontSize: 28, fontWeight: 'bold', color: '#ffffff', fontFamily: 'Microsoft YaHei', lineHeight: 1.4 }}&gt;如何理解&lt;br /&gt;智衍造船版&lt;/Text&gt;&#10;        &lt;Box style={{ width: 64, height: 4, background: '#06B6D4', marginTop: 24 }} /&gt;&#10;      &lt;/Box&gt;&#10;      &lt;Text style={{ fontSize: 18, color: '#CBD5E1', fontFamily: 'Microsoft YaHei', lineHeight: 1.5 }}&gt;从行业挑战出发&lt;br /&gt;到产品价值落地&lt;/Text&gt;&#10;    &lt;/Box&gt;&#10;    &lt;Box style={{ flex: 1, height: '100%', flexDirection: 'column', justifyContent: 'space-between' }}&gt;&#10;      {[&#10;        { n: '01', t: '行业挑战', d: '造船行业四大决策瓶颈' },&#10;        { n: '02', t: '产品定位', d: '工业 AI 决策分身与四层框架' },&#10;        { n: '03', t: '解决方案', d: '面向造船的十类智能体矩阵' },&#10;        { n: '04', t: '核心能力', d: '设备 · 质量 · 研发三大抓手' },&#10;        { n: '05', t: '技术架构', d: '数字孪生五要素 + 行业 manifest' },&#10;        { n: '06', t: '体验方式', d: '双模开户 · 注册即入职' },&#10;      ].map((item, i) =&gt; (&#10;        &lt;Box key={i} style={{ flexDirection: 'row', alignItems: 'center', gap: 16, padding: '14 20', background: '#ffffff', borderRadius: 12, boxShadow: '0 2px 12px rgba(11,37,69,0.06)' }}&gt;&#10;          &lt;Text style={{ fontSize: 22, fontWeight: 'bold', color: '#06B6D4', fontFamily: 'Arial', width: 36 }}&gt;{item.n}&lt;/Text&gt;&#10;          &lt;Box style={{ flex: 1 }}&gt;&#10;            &lt;Text style={{ fontSize: 20, fontWeight: 'bold', color: '#0F172A', fontFamily: 'Microsoft YaHei' }}&gt;{item.t}&lt;/Text&gt;&#10;            &lt;Text style={{ fontSize: 14, color: '#475569', fontFamily: 'Microsoft YaHei', marginTop: 2 }}&gt;{item.d}&lt;/Text&gt;&#10;          &lt;/Box&gt;&#10;          &lt;FAIcon name='chevron-right' style={{ fill: '#94A3B8', width: 18, height: 18 }} /&gt;&#10;        &lt;/Box&gt;&#10;      ))}&#10;    &lt;/Box&gt;&#10;  &lt;/Box&gt;&#10;  &lt;Box style={{ position: 'absolute', bottom: 0, left: 0, width: '100%', height: 60, flexDirection: 'row', justifyContent: 'space-between', alignItems: 'center', padding: '0 64' }}&gt;&#10;    &lt;Text style={{ fontSize: 14, color: '#475569', fontFamily: 'Microsoft YaHei' }}&gt;智衍 EvolvIQ · 造船行业版&lt;/Text&gt;&#10;    &lt;Text style={{ fontSize: 14, color: '#475569', fontFamily: 'Microsoft YaHei' }}&gt;02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609600" y="1524000"/>
            <a:ext cx="3514725" cy="4572000"/>
          </a:xfrm>
          <a:prstGeom prst="roundRect">
            <a:avLst>
              <a:gd name="adj" fmla="val 4336"/>
            </a:avLst>
          </a:prstGeom>
          <a:gradFill>
            <a:gsLst>
              <a:gs pos="0">
                <a:srgbClr val="0B2545"/>
              </a:gs>
              <a:gs pos="100000">
                <a:srgbClr val="2563EB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14400" y="1828800"/>
            <a:ext cx="2905125" cy="9048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如何理解</a:t>
            </a:r>
            <a:endParaRPr/>
          </a:p>
          <a:p>
            <a:pPr>
              <a:lnSpc>
                <a:spcPct val="14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智衍造船版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914400" y="2962275"/>
            <a:ext cx="6096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914400" y="5172075"/>
            <a:ext cx="2905125" cy="619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从行业挑战出发</a:t>
            </a:r>
            <a:endParaRPr/>
          </a:p>
          <a:p>
            <a:pPr>
              <a:lnSpc>
                <a:spcPct val="15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到产品价值落地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4581525" y="1524000"/>
            <a:ext cx="7000875" cy="676275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772025" y="1733550"/>
            <a:ext cx="34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267325" y="1657350"/>
            <a:ext cx="5800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行业挑战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267325" y="1905000"/>
            <a:ext cx="5800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造船行业四大决策瓶颈</a:t>
            </a:r>
            <a:endParaRPr/>
          </a:p>
        </p:txBody>
      </p:sp>
      <p:pic>
        <p:nvPicPr>
          <p:cNvPr id="1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220450" y="1781175"/>
            <a:ext cx="171450" cy="171450"/>
          </a:xfrm>
          <a:prstGeom prst="rect">
            <a:avLst/>
          </a:prstGeom>
          <a:ln/>
        </p:spPr>
      </p:pic>
      <p:sp>
        <p:nvSpPr>
          <p:cNvPr id="117" name=""/>
          <p:cNvSpPr/>
          <p:nvPr/>
        </p:nvSpPr>
        <p:spPr>
          <a:xfrm rot="0" flipH="0" flipV="0">
            <a:off x="4581525" y="2305050"/>
            <a:ext cx="7000875" cy="676275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772025" y="2514600"/>
            <a:ext cx="34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267325" y="2438400"/>
            <a:ext cx="5800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产品定位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267325" y="2686050"/>
            <a:ext cx="5800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工业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决策分身与四层框架</a:t>
            </a:r>
            <a:endParaRPr/>
          </a:p>
        </p:txBody>
      </p:sp>
      <p:pic>
        <p:nvPicPr>
          <p:cNvPr id="1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220450" y="2562225"/>
            <a:ext cx="171450" cy="171450"/>
          </a:xfrm>
          <a:prstGeom prst="rect">
            <a:avLst/>
          </a:prstGeom>
          <a:ln/>
        </p:spPr>
      </p:pic>
      <p:sp>
        <p:nvSpPr>
          <p:cNvPr id="122" name=""/>
          <p:cNvSpPr/>
          <p:nvPr/>
        </p:nvSpPr>
        <p:spPr>
          <a:xfrm rot="0" flipH="0" flipV="0">
            <a:off x="4581525" y="3086100"/>
            <a:ext cx="7000875" cy="676275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772025" y="3295650"/>
            <a:ext cx="34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267325" y="3219450"/>
            <a:ext cx="5800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解决方案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267325" y="3467100"/>
            <a:ext cx="5800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面向造船的十类智能体矩阵</a:t>
            </a:r>
            <a:endParaRPr/>
          </a:p>
        </p:txBody>
      </p:sp>
      <p:pic>
        <p:nvPicPr>
          <p:cNvPr id="1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220450" y="3343275"/>
            <a:ext cx="171450" cy="171450"/>
          </a:xfrm>
          <a:prstGeom prst="rect">
            <a:avLst/>
          </a:prstGeom>
          <a:ln/>
        </p:spPr>
      </p:pic>
      <p:sp>
        <p:nvSpPr>
          <p:cNvPr id="127" name=""/>
          <p:cNvSpPr/>
          <p:nvPr/>
        </p:nvSpPr>
        <p:spPr>
          <a:xfrm rot="0" flipH="0" flipV="0">
            <a:off x="4581525" y="3857625"/>
            <a:ext cx="7000875" cy="676275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772025" y="4067175"/>
            <a:ext cx="34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Arial"/>
                <a:ea typeface="Arial"/>
              </a:rPr>
              <a:t>04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267325" y="3990975"/>
            <a:ext cx="5800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核心能力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267325" y="4238625"/>
            <a:ext cx="5800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设备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质量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研发三大抓手</a:t>
            </a:r>
            <a:endParaRPr/>
          </a:p>
        </p:txBody>
      </p:sp>
      <p:pic>
        <p:nvPicPr>
          <p:cNvPr id="1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220450" y="4114800"/>
            <a:ext cx="171450" cy="171450"/>
          </a:xfrm>
          <a:prstGeom prst="rect">
            <a:avLst/>
          </a:prstGeom>
          <a:ln/>
        </p:spPr>
      </p:pic>
      <p:sp>
        <p:nvSpPr>
          <p:cNvPr id="132" name=""/>
          <p:cNvSpPr/>
          <p:nvPr/>
        </p:nvSpPr>
        <p:spPr>
          <a:xfrm rot="0" flipH="0" flipV="0">
            <a:off x="4581525" y="4638675"/>
            <a:ext cx="7000875" cy="676275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772025" y="4848225"/>
            <a:ext cx="34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Arial"/>
                <a:ea typeface="Arial"/>
              </a:rPr>
              <a:t>05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267325" y="4772025"/>
            <a:ext cx="5800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267325" y="5019675"/>
            <a:ext cx="5800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数字孪生五要素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行业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manifest</a:t>
            </a:r>
            <a:endParaRPr/>
          </a:p>
        </p:txBody>
      </p:sp>
      <p:pic>
        <p:nvPicPr>
          <p:cNvPr id="1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220450" y="4895850"/>
            <a:ext cx="171450" cy="171450"/>
          </a:xfrm>
          <a:prstGeom prst="rect">
            <a:avLst/>
          </a:prstGeom>
          <a:ln/>
        </p:spPr>
      </p:pic>
      <p:sp>
        <p:nvSpPr>
          <p:cNvPr id="137" name=""/>
          <p:cNvSpPr/>
          <p:nvPr/>
        </p:nvSpPr>
        <p:spPr>
          <a:xfrm rot="0" flipH="0" flipV="0">
            <a:off x="4581525" y="5419725"/>
            <a:ext cx="7000875" cy="676275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772025" y="5629275"/>
            <a:ext cx="34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6B6D4"/>
                </a:solidFill>
                <a:latin typeface="Arial"/>
                <a:ea typeface="Arial"/>
              </a:rPr>
              <a:t>06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267325" y="5553075"/>
            <a:ext cx="5800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体验方式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5267325" y="5800725"/>
            <a:ext cx="5800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双模开户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注册即入职</a:t>
            </a:r>
            <a:endParaRPr/>
          </a:p>
        </p:txBody>
      </p:sp>
      <p:pic>
        <p:nvPicPr>
          <p:cNvPr id="1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220450" y="5676900"/>
            <a:ext cx="171450" cy="171450"/>
          </a:xfrm>
          <a:prstGeom prst="rect">
            <a:avLst/>
          </a:prstGeom>
          <a:ln/>
        </p:spPr>
      </p:pic>
      <p:sp>
        <p:nvSpPr>
          <p:cNvPr id="142" name=""/>
          <p:cNvSpPr/>
          <p:nvPr/>
        </p:nvSpPr>
        <p:spPr>
          <a:xfrm rot="0" flipH="0" flipV="0">
            <a:off x="0" y="0"/>
            <a:ext cx="1219200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内容导览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EvolvIQ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造船行业版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46" name="" descr="&lt;Slide style={{ width: 1280, height: 720, position: 'relative', background: '#F1F5F9' }}&gt;&#10;  &lt;Box style={{ position: 'absolute', top: 0, left: 0, width: '100%', height: 120, background: '#0B2545', justifyContent: 'center', padding: '0 64' }}&gt;&#10;    &lt;Text style={{ fontSize: 34, fontWeight: 'bold', color: '#ffffff', fontFamily: 'Microsoft YaHei' }}&gt;造船行业的四大决策挑战&lt;/Text&gt;&#10;  &lt;/Box&gt;&#10;  &lt;Box style={{ height: 720, padding: '160 64 100 64', flexDirection: 'row', gap: 40 }}&gt;&#10;    &lt;Image src=&quot;assets/challenge_shipyard.png&quot; style={{ width: '52%', height: '100%', borderRadius: 16, objectFit: 'cover' }} /&gt;&#10;    &lt;Box style={{ flex: 1, height: '100%', flexDirection: 'column', justifyContent: 'space-between' }}&gt;&#10;      {[&#10;        { t: '多品种 · 小批量 · 长周期', d: '一艘船往往是定制项目，进度、资源、成本难以实时掌控。' },&#10;        { t: '大型专用设备多', d: '龙门吊、焊接机器人、船坞停机损失高，运维依赖老师傅经验。' },&#10;        { t: '一次合格率压力大', d: '船体报验环节多，缺陷归因链条长，返工代价巨大。' },&#10;        { t: '跨专业协同复杂', d: '设计、工艺、生产、质量数据割裂，变更影响难量化。' },&#10;      ].map((item, i) =&gt; (&#10;        &lt;Box key={i} style={{ background: '#ffffff', borderRadius: 12, padding: '20 24', boxShadow: '0 2px 12px rgba(11,37,69,0.06)' }}&gt;&#10;          &lt;Text style={{ fontSize: 20, fontWeight: 'bold', color: '#0B2545', fontFamily: 'Microsoft YaHei' }}&gt;{item.t}&lt;/Text&gt;&#10;          &lt;Text style={{ fontSize: 16, color: '#475569', fontFamily: 'Microsoft YaHei', lineHeight: 1.6, marginTop: 8 }}&gt;{item.d}&lt;/Text&gt;&#10;        &lt;/Box&gt;&#10;      ))}&#10;    &lt;/Box&gt;&#10;  &lt;/Box&gt;&#10;  &lt;Box style={{ position: 'absolute', bottom: 0, left: 0, width: '100%', height: 60, flexDirection: 'row', justifyContent: 'space-between', alignItems: 'center', padding: '0 64' }}&gt;&#10;    &lt;Text style={{ fontSize: 14, color: '#475569', fontFamily: 'Microsoft YaHei' }}&gt;智衍 EvolvIQ · 造船行业版&lt;/Text&gt;&#10;    &lt;Text style={{ fontSize: 14, color: '#475569', fontFamily: 'Microsoft YaHei' }}&gt;03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pic>
        <p:nvPicPr>
          <p:cNvPr id="148" name=""/>
          <p:cNvPicPr>
            <a:picLocks noChangeAspect="1"/>
          </p:cNvPicPr>
          <p:nvPr/>
        </p:nvPicPr>
        <p:blipFill>
          <a:blip r:embed="rId1"/>
          <a:srcRect l="5451" t="0" r="5451" b="0"/>
          <a:stretch>
            <a:fillRect/>
          </a:stretch>
        </p:blipFill>
        <p:spPr>
          <a:xfrm rot="0" flipH="0" flipV="0">
            <a:off x="609600" y="1524000"/>
            <a:ext cx="5705475" cy="4381500"/>
          </a:xfrm>
          <a:prstGeom prst="roundRect">
            <a:avLst>
              <a:gd name="adj" fmla="val 3478"/>
            </a:avLst>
          </a:prstGeom>
          <a:ln/>
        </p:spPr>
      </p:pic>
      <p:sp>
        <p:nvSpPr>
          <p:cNvPr id="149" name=""/>
          <p:cNvSpPr/>
          <p:nvPr/>
        </p:nvSpPr>
        <p:spPr>
          <a:xfrm rot="0" flipH="0" flipV="0">
            <a:off x="6696075" y="1524000"/>
            <a:ext cx="488632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924675" y="1714500"/>
            <a:ext cx="4429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2545"/>
                </a:solidFill>
                <a:latin typeface="Microsoft YaHei"/>
                <a:ea typeface="Microsoft YaHei"/>
              </a:rPr>
              <a:t>多品种</a:t>
            </a:r>
            <a:r>
              <a:rPr lang="en-US" sz="1500" b="1">
                <a:solidFill>
                  <a:srgbClr val="0B254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B2545"/>
                </a:solidFill>
                <a:latin typeface="Microsoft YaHei"/>
                <a:ea typeface="Microsoft YaHei"/>
              </a:rPr>
              <a:t>小批量</a:t>
            </a:r>
            <a:r>
              <a:rPr lang="en-US" sz="1500" b="1">
                <a:solidFill>
                  <a:srgbClr val="0B254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B2545"/>
                </a:solidFill>
                <a:latin typeface="Microsoft YaHei"/>
                <a:ea typeface="Microsoft YaHei"/>
              </a:rPr>
              <a:t>长周期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924675" y="2019300"/>
            <a:ext cx="44291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一艘船往往是定制项目，进度、资源、成本难以实时掌控。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696075" y="2657475"/>
            <a:ext cx="488632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924675" y="2847975"/>
            <a:ext cx="4429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2545"/>
                </a:solidFill>
                <a:latin typeface="Microsoft YaHei"/>
                <a:ea typeface="Microsoft YaHei"/>
              </a:rPr>
              <a:t>大型专用设备多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924675" y="3152775"/>
            <a:ext cx="44291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龙门吊、焊接机器人、船坞停机损失高，运维依赖老师傅经验。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696075" y="3790950"/>
            <a:ext cx="488632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924675" y="3981450"/>
            <a:ext cx="4429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2545"/>
                </a:solidFill>
                <a:latin typeface="Microsoft YaHei"/>
                <a:ea typeface="Microsoft YaHei"/>
              </a:rPr>
              <a:t>一次合格率压力大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924675" y="4286250"/>
            <a:ext cx="44291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船体报验环节多，缺陷归因链条长，返工代价巨大。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696075" y="4924425"/>
            <a:ext cx="488632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924675" y="5114925"/>
            <a:ext cx="4429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2545"/>
                </a:solidFill>
                <a:latin typeface="Microsoft YaHei"/>
                <a:ea typeface="Microsoft YaHei"/>
              </a:rPr>
              <a:t>跨专业协同复杂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924675" y="5419725"/>
            <a:ext cx="44291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设计、工艺、生产、质量数据割裂，变更影响难量化。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0" y="0"/>
            <a:ext cx="1219200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造船行业的四大决策挑战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EvolvIQ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造船行业版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5" name="" descr="&lt;Slide style={{ width: 1280, height: 720, position: 'relative', background: '#F1F5F9' }}&gt;&#10;  &lt;Box style={{ position: 'absolute', top: 0, left: 0, width: '100%', height: 120, background: '#0B2545', justifyContent: 'center', padding: '0 64' }}&gt;&#10;    &lt;Text style={{ fontSize: 34, fontWeight: 'bold', color: '#ffffff', fontFamily: 'Microsoft YaHei' }}&gt;智衍是什么：工业 AI 决策分身&lt;/Text&gt;&#10;  &lt;/Box&gt;&#10;  &lt;Box style={{ height: 720, padding: '160 64 100 64', flexDirection: 'row', gap: 40 }}&gt;&#10;    &lt;Box style={{ width: '58%', height: '100%', background: '#ffffff', borderRadius: 16, padding: 32, justifyContent: 'center', alignItems: 'center' }}&gt;&#10;      &lt;svg width='100%' height='100%' viewBox='0 0 560 400'&gt;&#10;        &lt;rect x='40' y='30' width='480' height='70' rx='12' fill='#0B2545' /&gt;&#10;        &lt;text x='70' y='72' fill='#ffffff' fontSize='22' fontFamily='Microsoft YaHei' fontWeight='bold'&gt;产业级&lt;/text&gt;&#10;        &lt;text x='210' y='72' fill='#94A3B8' fontSize='16' fontFamily='Microsoft YaHei'&gt;全球价值链与宏观研判&lt;/text&gt;&#10;        &lt;rect x='40' y='120' width='480' height='70' rx='12' fill='#2563EB' /&gt;&#10;        &lt;text x='70' y='162' fill='#ffffff' fontSize='22' fontFamily='Microsoft YaHei' fontWeight='bold'&gt;行业级&lt;/text&gt;&#10;        &lt;text x='210' y='162' fill='#DBEAFE' fontSize='16' fontFamily='Microsoft YaHei'&gt;标杆对标与竞争情报&lt;/text&gt;&#10;        &lt;rect x='40' y='210' width='480' height='70' rx='12' fill='#06B6D4' /&gt;&#10;        &lt;text x='70' y='252' fill='#ffffff' fontSize='22' fontFamily='Microsoft YaHei' fontWeight='bold'&gt;企业级&lt;/text&gt;&#10;        &lt;text x='210' y='252' fill='#E0F2FE' fontSize='16' fontFamily='Microsoft YaHei'&gt;经营驾驶舱与管控分身&lt;/text&gt;&#10;        &lt;rect x='40' y='300' width='480' height='70' rx='12' fill='#475569' /&gt;&#10;        &lt;text x='70' y='342' fill='#ffffff' fontSize='22' fontFamily='Microsoft YaHei' fontWeight='bold'&gt;专业级&lt;/text&gt;&#10;        &lt;text x='210' y='342' fill='#E2E8F0' fontSize='16' fontFamily='Microsoft YaHei'&gt;设备工艺岗位执行分身&lt;/text&gt;&#10;      &lt;/svg&gt;&#10;    &lt;/Box&gt;&#10;    &lt;Box style={{ flex: 1, height: '100%', flexDirection: 'column', justifyContent: 'space-between' }}&gt;&#10;      &lt;Box style={{ background: '#ffffff', borderRadius: 12, padding: '24 28', boxShadow: '0 2px 12px rgba(11,37,69,0.06)' }}&gt;&#10;        &lt;Text style={{ fontSize: 20, fontWeight: 'bold', color: '#0B2545', fontFamily: 'Microsoft YaHei' }}&gt;不替代 ERP / MES&lt;/Text&gt;&#10;        &lt;Text style={{ fontSize: 16, color: '#475569', fontFamily: 'Microsoft YaHei', lineHeight: 1.6, marginTop: 8 }}&gt;而是在其上叠加「实时决策脑 + 全息真相源」，让经营管控者拥有可对话的分身。&lt;/Text&gt;&#10;      &lt;/Box&gt;&#10;      &lt;Box style={{ background: '#ffffff', borderRadius: 12, padding: '24 28', boxShadow: '0 2px 12px rgba(11,37,69,0.06)' }}&gt;&#10;        &lt;Text style={{ fontSize: 20, fontWeight: 'bold', color: '#0B2545', fontFamily: 'Microsoft YaHei' }}&gt;成熟度阶梯 L0 → L3&lt;/Text&gt;&#10;        &lt;Text style={{ fontSize: 16, color: '#475569', fontFamily: 'Microsoft YaHei', lineHeight: 1.6, marginTop: 8 }}&gt;L0 观察 · L1 判断 · L2 预案 · L3 授权执行&lt;/Text&gt;&#10;        &lt;Text style={{ fontSize: 16, color: '#06B6D4', fontFamily: 'Microsoft YaHei', lineHeight: 1.6, marginTop: 6 }}&gt;当前造船场景以 L0–L2 为主，人留终审红线。&lt;/Text&gt;&#10;      &lt;/Box&gt;&#10;      &lt;Box style={{ background: 'linear-gradient(135deg, #0B2545 0%, #2563EB 100%)', borderRadius: 12, padding: '24 28' }}&gt;&#10;        &lt;Text style={{ fontSize: 20, fontWeight: 'bold', color: '#ffffff', fontFamily: 'Microsoft YaHei' }}&gt;一个核心定位&lt;/Text&gt;&#10;        &lt;Text style={{ fontSize: 16, color: '#E2E8F0', fontFamily: 'Microsoft YaHei', lineHeight: 1.6, marginTop: 8 }}&gt;把离散数据、专家经验、行业知识变成可实时对话的决策能力。&lt;/Text&gt;&#10;      &lt;/Box&gt;&#10;    &lt;/Box&gt;&#10;  &lt;/Box&gt;&#10;  &lt;Box style={{ position: 'absolute', bottom: 0, left: 0, width: '100%', height: 60, flexDirection: 'row', justifyContent: 'space-between', alignItems: 'center', padding: '0 64' }}&gt;&#10;    &lt;Text style={{ fontSize: 14, color: '#475569', fontFamily: 'Microsoft YaHei' }}&gt;智衍 EvolvIQ · 造船行业版&lt;/Text&gt;&#10;    &lt;Text style={{ fontSize: 14, color: '#475569', fontFamily: 'Microsoft YaHei' }}&gt;04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609600" y="1524000"/>
            <a:ext cx="6362700" cy="43815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1828800"/>
            <a:ext cx="5753100" cy="3771900"/>
          </a:xfrm>
          <a:prstGeom prst="rect">
            <a:avLst/>
          </a:prstGeom>
          <a:ln/>
        </p:spPr>
      </p:pic>
      <p:sp>
        <p:nvSpPr>
          <p:cNvPr id="169" name=""/>
          <p:cNvSpPr/>
          <p:nvPr/>
        </p:nvSpPr>
        <p:spPr>
          <a:xfrm rot="0" flipH="0" flipV="0">
            <a:off x="7353300" y="1524000"/>
            <a:ext cx="42291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620000" y="1752600"/>
            <a:ext cx="369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2545"/>
                </a:solidFill>
                <a:latin typeface="Microsoft YaHei"/>
                <a:ea typeface="Microsoft YaHei"/>
              </a:rPr>
              <a:t>不替代</a:t>
            </a:r>
            <a:r>
              <a:rPr lang="en-US" sz="1500" b="1">
                <a:solidFill>
                  <a:srgbClr val="0B2545"/>
                </a:solidFill>
                <a:latin typeface="Microsoft YaHei"/>
                <a:ea typeface="Microsoft YaHei"/>
              </a:rPr>
              <a:t xml:space="preserve"> ERP / MES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620000" y="2057400"/>
            <a:ext cx="3695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而是在其上叠加「实时决策脑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全息真相源」，让经营管控者拥有可对话的分身。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7353300" y="3009900"/>
            <a:ext cx="4229100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620000" y="3238500"/>
            <a:ext cx="369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2545"/>
                </a:solidFill>
                <a:latin typeface="Microsoft YaHei"/>
                <a:ea typeface="Microsoft YaHei"/>
              </a:rPr>
              <a:t>成熟度阶梯</a:t>
            </a:r>
            <a:r>
              <a:rPr lang="en-US" sz="1500" b="1">
                <a:solidFill>
                  <a:srgbClr val="0B2545"/>
                </a:solidFill>
                <a:latin typeface="Microsoft YaHei"/>
                <a:ea typeface="Microsoft YaHei"/>
              </a:rPr>
              <a:t xml:space="preserve"> L0 → L3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620000" y="3543300"/>
            <a:ext cx="36957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L0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观察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L1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判断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L2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预案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L3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授权执行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620000" y="3895725"/>
            <a:ext cx="36957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06B6D4"/>
                </a:solidFill>
                <a:latin typeface="Microsoft YaHei"/>
                <a:ea typeface="Microsoft YaHei"/>
              </a:rPr>
              <a:t>当前造船场景以</a:t>
            </a:r>
            <a:r>
              <a:rPr lang="en-US" sz="1200">
                <a:solidFill>
                  <a:srgbClr val="06B6D4"/>
                </a:solidFill>
                <a:latin typeface="Microsoft YaHei"/>
                <a:ea typeface="Microsoft YaHei"/>
              </a:rPr>
              <a:t xml:space="preserve"> L0–L2 </a:t>
            </a:r>
            <a:r>
              <a:rPr lang="zh-CN" sz="1200">
                <a:solidFill>
                  <a:srgbClr val="06B6D4"/>
                </a:solidFill>
                <a:latin typeface="Microsoft YaHei"/>
                <a:ea typeface="Microsoft YaHei"/>
              </a:rPr>
              <a:t>为主，人留终审红线。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7353300" y="4552950"/>
            <a:ext cx="4229100" cy="1352550"/>
          </a:xfrm>
          <a:prstGeom prst="roundRect">
            <a:avLst>
              <a:gd name="adj" fmla="val 8451"/>
            </a:avLst>
          </a:prstGeom>
          <a:gradFill>
            <a:gsLst>
              <a:gs pos="0">
                <a:srgbClr val="0B2545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620000" y="4781550"/>
            <a:ext cx="3695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一个核心定位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620000" y="5086350"/>
            <a:ext cx="3695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把离散数据、专家经验、行业知识变成可实时对话的决策能力。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0" y="0"/>
            <a:ext cx="1219200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智衍是什么：工业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决策分身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EvolvIQ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造船行业版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83" name="" descr="&lt;Slide style={{ width: 1280, height: 720, position: 'relative', background: '#F1F5F9' }}&gt;&#10;  &lt;Box style={{ position: 'absolute', top: 0, left: 0, width: '100%', height: 120, background: '#0B2545', justifyContent: 'center', padding: '0 64' }}&gt;&#10;    &lt;Text style={{ fontSize: 34, fontWeight: 'bold', color: '#ffffff', fontFamily: 'Microsoft YaHei' }}&gt;造船解决方案总览：十类智能体&lt;/Text&gt;&#10;  &lt;/Box&gt;&#10;  &lt;Box style={{ height: 720, padding: '150 64 140 64', flexDirection: 'column', gap: 24 }}&gt;&#10;    &lt;Box style={{ width: '100%', height: 320, background: '#ffffff', borderRadius: 16, padding: 24, justifyContent: 'center', alignItems: 'center' }}&gt;&#10;      &lt;svg width='100%' height='100%' viewBox='0 0 900 430'&gt;&#10;        &lt;rect x='10' y='10' width='280' height='90' rx='12' fill='#0B2545' /&gt;&#10;        &lt;text x='40' y='55' fill='#ffffff' fontSize='18' fontFamily='Microsoft YaHei' fontWeight='bold'&gt;设备健康 Agent&lt;/text&gt;&#10;        &lt;rect x='310' y='10' width='280' height='90' rx='12' fill='#2563EB' /&gt;&#10;        &lt;text x='340' y='55' fill='#ffffff' fontSize='18' fontFamily='Microsoft YaHei' fontWeight='bold'&gt;分段装配 Agent&lt;/text&gt;&#10;        &lt;rect x='610' y='10' width='280' height='90' rx='12' fill='#2563EB' /&gt;&#10;        &lt;text x='640' y='55' fill='#ffffff' fontSize='18' fontFamily='Microsoft YaHei' fontWeight='bold'&gt;涂装缺陷判定 Agent&lt;/text&gt;&#10;        &lt;rect x='10' y='115' width='280' height='90' rx='12' fill='#0B2545' /&gt;&#10;        &lt;text x='40' y='160' fill='#ffffff' fontSize='18' fontFamily='Microsoft YaHei' fontWeight='bold'&gt;一次合格率 Agent&lt;/text&gt;&#10;        &lt;rect x='310' y='115' width='280' height='90' rx='12' fill='#475569' /&gt;&#10;        &lt;text x='340' y='160' fill='#ffffff' fontSize='18' fontFamily='Microsoft YaHei' fontWeight='bold'&gt;质量追溯 Agent&lt;/text&gt;&#10;        &lt;rect x='610' y='115' width='280' height='90' rx='12' fill='#2563EB' /&gt;&#10;        &lt;text x='640' y='160' fill='#ffffff' fontSize='18' fontFamily='Microsoft YaHei' fontWeight='bold'&gt;可建造性检查 Agent&lt;/text&gt;&#10;        &lt;rect x='10' y='220' width='280' height='90' rx='12' fill='#06B6D4' /&gt;&#10;        &lt;text x='40' y='265' fill='#ffffff' fontSize='18' fontFamily='Microsoft YaHei' fontWeight='bold'&gt;新船型导入 Agent&lt;/text&gt;&#10;        &lt;rect x='310' y='220' width='280' height='90' rx='12' fill='#06B6D4' /&gt;&#10;        &lt;text x='340' y='265' fill='#ffffff' fontSize='18' fontFamily='Microsoft YaHei' fontWeight='bold'&gt;船级社标准 Agent&lt;/text&gt;&#10;        &lt;rect x='610' y='220' width='280' height='90' rx='12' fill='#06B6D4' /&gt;&#10;        &lt;text x='640' y='265' fill='#ffffff' fontSize='18' fontFamily='Microsoft YaHei' fontWeight='bold'&gt;设计变更 Agent&lt;/text&gt;&#10;        &lt;rect x='10' y='325' width='880' height='90' rx='12' fill='#F59E0B' /&gt;&#10;        &lt;text x='40' y='370' fill='#ffffff' fontSize='18' fontFamily='Microsoft YaHei' fontWeight='bold'&gt;造船生产排产 Agent（新增·已落地）&lt;/text&gt;&#10;        &lt;text x='430' y='370' fill='#FFF7ED' fontSize='15' fontFamily='Microsoft YaHei'&gt;船坞窗口 · 托盘齐套 · 多船并行 · 节拍 · What-if&lt;/text&gt;&#10;      &lt;/svg&gt;&#10;    &lt;/Box&gt;&#10;    &lt;Box style={{ height: 110, flexDirection: 'row', gap: 40, alignItems: 'center' }}&gt;&#10;      &lt;Box style={{ flex: 1, height: '100%', background: '#ffffff', borderRadius: 12, padding: '18 20', boxShadow: '0 2px 12px rgba(11,37,69,0.06)' }}&gt;&#10;        &lt;Text style={{ fontSize: 18, fontWeight: 'bold', color: '#0B2545', fontFamily: 'Microsoft YaHei' }}&gt;行业 = 数据，不是代码&lt;/Text&gt;&#10;        &lt;Text style={{ fontSize: 14, color: '#475569', fontFamily: 'Microsoft YaHei', lineHeight: 1.5, marginTop: 6 }}&gt;设备表、触发词、智能体覆盖全部放进 manifest JSON，新增行业只丢一个文件，零代码改动。&lt;/Text&gt;&#10;      &lt;/Box&gt;&#10;      &lt;Box style={{ flex: 1, height: '100%', background: '#0B2545', borderRadius: 12, padding: '18 20' }}&gt;&#10;        &lt;Text style={{ fontSize: 18, fontWeight: 'bold', color: '#ffffff', fontFamily: 'Microsoft YaHei' }}&gt;从半导体到造船：同一套内核&lt;/Text&gt;&#10;        &lt;Text style={{ fontSize: 14, color: '#CBD5E1', fontFamily: 'Microsoft YaHei', lineHeight: 1.5, marginTop: 6 }}&gt;只需切换行业 manifest，智能体名称、场景、设备类型随行业自动切换。&lt;/Text&gt;&#10;      &lt;/Box&gt;&#10;    &lt;/Box&gt;&#10;  &lt;/Box&gt;&#10;  &lt;Box style={{ position: 'absolute', bottom: 0, left: 0, width: '100%', height: 60, flexDirection: 'row', justifyContent: 'space-between', alignItems: 'center', padding: '0 64' }}&gt;&#10;    &lt;Text style={{ fontSize: 14, color: '#475569', fontFamily: 'Microsoft YaHei' }}&gt;智衍 EvolvIQ · 造船行业版&lt;/Text&gt;&#10;    &lt;Text style={{ fontSize: 14, color: '#475569', fontFamily: 'Microsoft YaHei' }}&gt;05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609600" y="1428750"/>
            <a:ext cx="109728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657350"/>
            <a:ext cx="10515600" cy="2590800"/>
          </a:xfrm>
          <a:prstGeom prst="rect">
            <a:avLst/>
          </a:prstGeom>
          <a:ln/>
        </p:spPr>
      </p:pic>
      <p:sp>
        <p:nvSpPr>
          <p:cNvPr id="187" name=""/>
          <p:cNvSpPr/>
          <p:nvPr/>
        </p:nvSpPr>
        <p:spPr>
          <a:xfrm rot="0" flipH="0" flipV="0">
            <a:off x="609600" y="4705350"/>
            <a:ext cx="52959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00100" y="4876800"/>
            <a:ext cx="491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2545"/>
                </a:solidFill>
                <a:latin typeface="Microsoft YaHei"/>
                <a:ea typeface="Microsoft YaHei"/>
              </a:rPr>
              <a:t>行业</a:t>
            </a:r>
            <a:r>
              <a:rPr lang="en-US" sz="1350" b="1">
                <a:solidFill>
                  <a:srgbClr val="0B2545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350" b="1">
                <a:solidFill>
                  <a:srgbClr val="0B2545"/>
                </a:solidFill>
                <a:latin typeface="Microsoft YaHei"/>
                <a:ea typeface="Microsoft YaHei"/>
              </a:rPr>
              <a:t>数据，不是代码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00100" y="5143500"/>
            <a:ext cx="49149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设备表、触发词、智能体覆盖全部放进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manifest JSON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，新增行业只丢一个文件，零代码改动。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286500" y="4705350"/>
            <a:ext cx="5295900" cy="104775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477000" y="4876800"/>
            <a:ext cx="491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从半导体到造船：同一套内核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477000" y="5143500"/>
            <a:ext cx="4914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只需切换行业</a:t>
            </a:r>
            <a:r>
              <a:rPr lang="en-US" sz="1050">
                <a:solidFill>
                  <a:srgbClr val="CBD5E1"/>
                </a:solidFill>
                <a:latin typeface="Microsoft YaHei"/>
                <a:ea typeface="Microsoft YaHei"/>
              </a:rPr>
              <a:t xml:space="preserve"> manifest</a:t>
            </a: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，智能体名称、场景、设备类型随行业自动切换。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0" y="0"/>
            <a:ext cx="1219200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造船解决方案总览：十类智能体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EvolvIQ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造船行业版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97" name="" descr="&lt;Slide style={{ width: 1280, height: 720, position: 'relative', background: '#F1F5F9' }}&gt;&#10;  &lt;Box style={{ position: 'absolute', top: 0, left: 0, width: '100%', height: 120, background: '#0B2545', justifyContent: 'center', padding: '0 64' }}&gt;&#10;    &lt;Text style={{ fontSize: 34, fontWeight: 'bold', color: '#ffffff', fontFamily: 'Microsoft YaHei' }}&gt;核心能力 ①：设备健康与预测维护&lt;/Text&gt;&#10;  &lt;/Box&gt;&#10;  &lt;Box style={{ height: 720, padding: '130 64 70 64', flexDirection: 'row', gap: 40 }}&gt;&#10;    &lt;Image src=&quot;assets/equip_monitor.png&quot; style={{ width: '55%', height: '100%', borderRadius: 16, objectFit: 'cover' }} /&gt;&#10;    &lt;Box style={{ flex: 1, height: '100%', flexDirection: 'column', justifyContent: 'space-between' }}&gt;&#10;      &lt;Box style={{ background: '#0B2545', borderRadius: 12, padding: '24 28' }}&gt;&#10;        &lt;Text style={{ fontSize: 22, fontWeight: 'bold', color: '#ffffff', fontFamily: 'Microsoft YaHei' }}&gt;覆盖造船 6 类 7 台关键设备&lt;/Text&gt;&#10;        &lt;Text style={{ fontSize: 16, color: '#CBD5E1', fontFamily: 'Microsoft YaHei', lineHeight: 1.6, marginTop: 8 }}&gt;船坞、龙门吊、焊接机器人、数控板材、喷砂涂装线、船用柴油机&lt;/Text&gt;&#10;      &lt;/Box&gt;&#10;      &lt;Box style={{ background: '#ffffff', borderRadius: 12, padding: '20 24', boxShadow: '0 2px 12px rgba(11,37,69,0.06)' }}&gt;&#10;        &lt;Text style={{ fontSize: 18, fontWeight: 'bold', color: '#0B2545', fontFamily: 'Microsoft YaHei' }}&gt;健康诊断&lt;/Text&gt;&#10;        &lt;Text style={{ fontSize: 15, color: '#475569', fontFamily: 'Microsoft YaHei', lineHeight: 1.5, marginTop: 6 }}&gt;实时振动、温度、电流趋势分析，异常自动预警。&lt;/Text&gt;&#10;      &lt;/Box&gt;&#10;      &lt;Box style={{ background: '#ffffff', borderRadius: 12, padding: '20 24', boxShadow: '0 2px 12px rgba(11,37,69,0.06)' }}&gt;&#10;        &lt;Text style={{ fontSize: 18, fontWeight: 'bold', color: '#0B2545', fontFamily: 'Microsoft YaHei' }}&gt;预测维护建议&lt;/Text&gt;&#10;        &lt;Text style={{ fontSize: 15, color: '#475569', fontFamily: 'Microsoft YaHei', lineHeight: 1.5, marginTop: 6 }}&gt;关键部件寿命预测与换件窗口推荐。&lt;/Text&gt;&#10;      &lt;/Box&gt;&#10;      &lt;Box style={{ background: '#ffffff', borderRadius: 12, padding: '20 24', boxShadow: '0 2px 12px rgba(11,37,69,0.06)' }}&gt;&#10;        &lt;Text style={{ fontSize: 18, fontWeight: 'bold', color: '#0B2545', fontFamily: 'Microsoft YaHei' }}&gt;UNS 事件流实时上屏&lt;/Text&gt;&#10;        &lt;Text style={{ fontSize: 15, color: '#475569', fontFamily: 'Microsoft YaHei', lineHeight: 1.5, marginTop: 6 }}&gt;异常触发秒级预警，设备卡动态点亮。&lt;/Text&gt;&#10;      &lt;/Box&gt;&#10;      &lt;Box style={{ background: 'linear-gradient(135deg, #2563EB 0%, #06B6D4 100%)', borderRadius: 12, padding: '18 24' }}&gt;&#10;        &lt;Text style={{ fontSize: 16, color: '#ffffff', fontFamily: 'Microsoft YaHei' }}&gt;某大型造船集团演示租户已点亮 7 台设备并接入实时事件流&lt;/Text&gt;&#10;      &lt;/Box&gt;&#10;    &lt;/Box&gt;&#10;  &lt;/Box&gt;&#10;  &lt;Box style={{ position: 'absolute', bottom: 0, left: 0, width: '100%', height: 60, flexDirection: 'row', justifyContent: 'space-between', alignItems: 'center', padding: '0 64' }}&gt;&#10;    &lt;Text style={{ fontSize: 14, color: '#475569', fontFamily: 'Microsoft YaHei' }}&gt;智衍 EvolvIQ · 造船行业版&lt;/Text&gt;&#10;    &lt;Text style={{ fontSize: 14, color: '#475569', fontFamily: 'Microsoft YaHei' }}&gt;06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pic>
        <p:nvPicPr>
          <p:cNvPr id="199" name=""/>
          <p:cNvPicPr>
            <a:picLocks noChangeAspect="1"/>
          </p:cNvPicPr>
          <p:nvPr/>
        </p:nvPicPr>
        <p:blipFill>
          <a:blip r:embed="rId1"/>
          <a:srcRect l="8289" t="0" r="8289" b="0"/>
          <a:stretch>
            <a:fillRect/>
          </a:stretch>
        </p:blipFill>
        <p:spPr>
          <a:xfrm rot="0" flipH="0" flipV="0">
            <a:off x="609600" y="1238250"/>
            <a:ext cx="6038850" cy="4953000"/>
          </a:xfrm>
          <a:prstGeom prst="roundRect">
            <a:avLst>
              <a:gd name="adj" fmla="val 3077"/>
            </a:avLst>
          </a:prstGeom>
          <a:ln/>
        </p:spPr>
      </p:pic>
      <p:sp>
        <p:nvSpPr>
          <p:cNvPr id="200" name=""/>
          <p:cNvSpPr/>
          <p:nvPr/>
        </p:nvSpPr>
        <p:spPr>
          <a:xfrm rot="0" flipH="0" flipV="0">
            <a:off x="7029450" y="1238250"/>
            <a:ext cx="4552950" cy="1381125"/>
          </a:xfrm>
          <a:prstGeom prst="roundRect">
            <a:avLst>
              <a:gd name="adj" fmla="val 8276"/>
            </a:avLst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296150" y="1466850"/>
            <a:ext cx="401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覆盖造船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类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台关键设备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296150" y="1800225"/>
            <a:ext cx="4019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船坞、龙门吊、焊接机器人、数控板材、喷砂涂装线、船用柴油机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7029450" y="2705100"/>
            <a:ext cx="455295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258050" y="2895600"/>
            <a:ext cx="409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2545"/>
                </a:solidFill>
                <a:latin typeface="Microsoft YaHei"/>
                <a:ea typeface="Microsoft YaHei"/>
              </a:rPr>
              <a:t>健康诊断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258050" y="3162300"/>
            <a:ext cx="4095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实时振动、温度、电流趋势分析，异常自动预警。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7029450" y="3686175"/>
            <a:ext cx="455295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258050" y="3876675"/>
            <a:ext cx="409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2545"/>
                </a:solidFill>
                <a:latin typeface="Microsoft YaHei"/>
                <a:ea typeface="Microsoft YaHei"/>
              </a:rPr>
              <a:t>预测维护建议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258050" y="4143375"/>
            <a:ext cx="4095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关键部件寿命预测与换件窗口推荐。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7029450" y="4676775"/>
            <a:ext cx="4552950" cy="904875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258050" y="4867275"/>
            <a:ext cx="409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B2545"/>
                </a:solidFill>
                <a:latin typeface="Microsoft YaHei"/>
                <a:ea typeface="Microsoft YaHei"/>
              </a:rPr>
              <a:t xml:space="preserve">UNS </a:t>
            </a:r>
            <a:r>
              <a:rPr lang="zh-CN" sz="1350" b="1">
                <a:solidFill>
                  <a:srgbClr val="0B2545"/>
                </a:solidFill>
                <a:latin typeface="Microsoft YaHei"/>
                <a:ea typeface="Microsoft YaHei"/>
              </a:rPr>
              <a:t>事件流实时上屏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258050" y="5133975"/>
            <a:ext cx="4095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异常触发秒级预警，设备卡动态点亮。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029450" y="5657850"/>
            <a:ext cx="4552950" cy="533400"/>
          </a:xfrm>
          <a:prstGeom prst="roundRect">
            <a:avLst>
              <a:gd name="adj" fmla="val 21429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258050" y="5829300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某大型造船集团演示租户已点亮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台设备并接入实时事件流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0" y="0"/>
            <a:ext cx="1219200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核心能力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①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：设备健康与预测维护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EvolvIQ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造船行业版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18" name="" descr="&lt;Slide style={{ width: 1280, height: 720, position: 'relative', background: '#F1F5F9' }}&gt;&#10;  &lt;Box style={{ position: 'absolute', top: 0, left: 0, width: '100%', height: 120, background: '#0B2545', justifyContent: 'center', padding: '0 64' }}&gt;&#10;    &lt;Text style={{ fontSize: 34, fontWeight: 'bold', color: '#ffffff', fontFamily: 'Microsoft YaHei' }}&gt;核心能力 ②：质量与工艺&lt;/Text&gt;&#10;  &lt;/Box&gt;&#10;  &lt;Box style={{ height: 720, padding: '150 64 120 64', flexDirection: 'row', gap: 40 }}&gt;&#10;    &lt;Box style={{ width: '32%', height: '100%', background: 'linear-gradient(135deg, #0B2545 0%, #2563EB 100%)', borderRadius: 16, padding: '32 28', flexDirection: 'column', justifyContent: 'center' }}&gt;&#10;      &lt;Text style={{ fontSize: 18, color: '#06B6D4', fontFamily: 'Microsoft YaHei', fontWeight: 'bold' }}&gt;QUALITY · 质量生命线&lt;/Text&gt;&#10;      &lt;Text style={{ fontSize: 38, color: '#ffffff', fontFamily: 'Microsoft YaHei', fontWeight: 'bold', marginTop: 14, lineHeight: 1.3 }}&gt;质量与工艺&lt;/Text&gt;&#10;      &lt;Text style={{ fontSize: 16, color: '#CBD5E1', fontFamily: 'Microsoft YaHei', lineHeight: 1.7, marginTop: 18 }}&gt;把被动报验变成主动预防，让缺陷在发生时就被看见、被归因。&lt;/Text&gt;&#10;    &lt;/Box&gt;&#10;    &lt;Box style={{ flex: 1, height: '100%', flexDirection: 'column', justifyContent: 'space-between' }}&gt;&#10;      &lt;Box style={{ background: '#EFF6FF', borderRadius: 12, padding: '22 26', borderLeft: '6px solid #06B6D4' }}&gt;&#10;        &lt;Text style={{ fontSize: 40, color: '#06B6D4', fontFamily: 'Microsoft YaHei', fontWeight: 'bold' }}&gt;一次合格率 Agent&lt;/Text&gt;&#10;        &lt;Text style={{ fontSize: 16, color: '#475569', fontFamily: 'Microsoft YaHei', lineHeight: 1.6, marginTop: 10 }}&gt;船体报验合格率趋势、缺陷分类、设备—质量关联根因分析，从「事后补救」走向「事前预警」。&lt;/Text&gt;&#10;      &lt;/Box&gt;&#10;      &lt;Box style={{ background: '#ffffff', borderRadius: 12, padding: '20 24', boxShadow: '0 2px 12px rgba(11,37,69,0.06)' }}&gt;&#10;        &lt;Text style={{ fontSize: 20, fontWeight: 'bold', color: '#0B2545', fontFamily: 'Microsoft YaHei' }}&gt;涂装 / 焊接缺陷判定 Agent&lt;/Text&gt;&#10;        &lt;Text style={{ fontSize: 16, color: '#475569', fontFamily: 'Microsoft YaHei', lineHeight: 1.6, marginTop: 8 }}&gt;误报过滤、阈值动态优化，显著节省复判工时，让质检员聚焦真正的问题。&lt;/Text&gt;&#10;      &lt;/Box&gt;&#10;      &lt;Box style={{ background: '#ffffff', borderRadius: 12, padding: '20 24', boxShadow: '0 2px 12px rgba(11,37,69,0.06)' }}&gt;&#10;        &lt;Text style={{ fontSize: 20, fontWeight: 'bold', color: '#0B2545', fontFamily: 'Microsoft YaHei' }}&gt;可建造性检查 Agent&lt;/Text&gt;&#10;        &lt;Text style={{ fontSize: 16, color: '#475569', fontFamily: 'Microsoft YaHei', lineHeight: 1.6, marginTop: 8 }}&gt;焊接可达性、精度、安全规则自动审查，把工艺问题挡在设计阶段。&lt;/Text&gt;&#10;      &lt;/Box&gt;&#10;    &lt;/Box&gt;&#10;  &lt;/Box&gt;&#10;  &lt;Box style={{ position: 'absolute', bottom: 0, left: 0, width: '100%', height: 60, flexDirection: 'row', justifyContent: 'space-between', alignItems: 'center', padding: '0 64' }}&gt;&#10;    &lt;Text style={{ fontSize: 14, color: '#475569', fontFamily: 'Microsoft YaHei' }}&gt;智衍 EvolvIQ · 造船行业版&lt;/Text&gt;&#10;    &lt;Text style={{ fontSize: 14, color: '#475569', fontFamily: 'Microsoft YaHei' }}&gt;07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609600" y="1428750"/>
            <a:ext cx="3514725" cy="4286250"/>
          </a:xfrm>
          <a:prstGeom prst="roundRect">
            <a:avLst>
              <a:gd name="adj" fmla="val 4336"/>
            </a:avLst>
          </a:prstGeom>
          <a:gradFill>
            <a:gsLst>
              <a:gs pos="0">
                <a:srgbClr val="0B2545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76300" y="2714625"/>
            <a:ext cx="2981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B6D4"/>
                </a:solidFill>
                <a:latin typeface="Microsoft YaHei"/>
                <a:ea typeface="Microsoft YaHei"/>
              </a:rPr>
              <a:t xml:space="preserve">QUALITY · </a:t>
            </a:r>
            <a:r>
              <a:rPr lang="zh-CN" sz="1350" b="1">
                <a:solidFill>
                  <a:srgbClr val="06B6D4"/>
                </a:solidFill>
                <a:latin typeface="Microsoft YaHei"/>
                <a:ea typeface="Microsoft YaHei"/>
              </a:rPr>
              <a:t>质量生命线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76300" y="3057525"/>
            <a:ext cx="2981325" cy="571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质量与工艺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76300" y="3800475"/>
            <a:ext cx="29813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把被动报验变成主动预防，让缺陷在发生时就被看见、被归因。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4562475" y="1428750"/>
            <a:ext cx="7077075" cy="1562100"/>
          </a:xfrm>
          <a:prstGeom prst="roundRect">
            <a:avLst>
              <a:gd name="adj" fmla="val 731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4562475" y="1428750"/>
            <a:ext cx="7077075" cy="1562100"/>
          </a:xfrm>
          <a:custGeom>
            <a:pathLst>
              <a:path w="743" h="164">
                <a:moveTo>
                  <a:pt x="11" y="0"/>
                </a:moveTo>
                <a:cubicBezTo>
                  <a:pt x="8" y="0"/>
                  <a:pt x="6" y="3"/>
                  <a:pt x="6" y="6"/>
                </a:cubicBezTo>
                <a:lnTo>
                  <a:pt x="6" y="158"/>
                </a:lnTo>
                <a:cubicBezTo>
                  <a:pt x="6" y="161"/>
                  <a:pt x="8" y="163"/>
                  <a:pt x="11" y="164"/>
                </a:cubicBezTo>
                <a:cubicBezTo>
                  <a:pt x="5" y="163"/>
                  <a:pt x="0" y="158"/>
                  <a:pt x="0" y="152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810125" y="1638300"/>
            <a:ext cx="65246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06B6D4"/>
                </a:solidFill>
                <a:latin typeface="Microsoft YaHei"/>
                <a:ea typeface="Microsoft YaHei"/>
              </a:rPr>
              <a:t>一次合格率</a:t>
            </a:r>
            <a:r>
              <a:rPr lang="en-US" sz="3000" b="1">
                <a:solidFill>
                  <a:srgbClr val="06B6D4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810125" y="2190750"/>
            <a:ext cx="65246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船体报验合格率趋势、缺陷分类、设备—质量关联根因分析，从「事后补救」走向「事前预警」。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505325" y="3371850"/>
            <a:ext cx="707707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733925" y="3562350"/>
            <a:ext cx="6619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2545"/>
                </a:solidFill>
                <a:latin typeface="Microsoft YaHei"/>
                <a:ea typeface="Microsoft YaHei"/>
              </a:rPr>
              <a:t>涂装</a:t>
            </a:r>
            <a:r>
              <a:rPr lang="en-US" sz="1500" b="1">
                <a:solidFill>
                  <a:srgbClr val="0B2545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 b="1">
                <a:solidFill>
                  <a:srgbClr val="0B2545"/>
                </a:solidFill>
                <a:latin typeface="Microsoft YaHei"/>
                <a:ea typeface="Microsoft YaHei"/>
              </a:rPr>
              <a:t>焊接缺陷判定</a:t>
            </a:r>
            <a:r>
              <a:rPr lang="en-US" sz="1500" b="1">
                <a:solidFill>
                  <a:srgbClr val="0B2545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733925" y="3867150"/>
            <a:ext cx="66198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误报过滤、阈值动态优化，显著节省复判工时，让质检员聚焦真正的问题。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4505325" y="4733925"/>
            <a:ext cx="707707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733925" y="4924425"/>
            <a:ext cx="6619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2545"/>
                </a:solidFill>
                <a:latin typeface="Microsoft YaHei"/>
                <a:ea typeface="Microsoft YaHei"/>
              </a:rPr>
              <a:t>可建造性检查</a:t>
            </a:r>
            <a:r>
              <a:rPr lang="en-US" sz="1500" b="1">
                <a:solidFill>
                  <a:srgbClr val="0B2545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733925" y="5229225"/>
            <a:ext cx="66198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焊接可达性、精度、安全规则自动审查，把工艺问题挡在设计阶段。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0" y="0"/>
            <a:ext cx="1219200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核心能力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②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：质量与工艺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EvolvIQ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造船行业版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38" name="" descr="&lt;Slide style={{ width: 1280, height: 720, position: 'relative', background: '#F1F5F9' }}&gt;&#10;  &lt;Box style={{ position: 'absolute', top: 0, left: 0, width: '100%', height: 120, background: '#0B2545', justifyContent: 'center', padding: '0 64' }}&gt;&#10;    &lt;Text style={{ fontSize: 34, fontWeight: 'bold', color: '#ffffff', fontFamily: 'Microsoft YaHei' }}&gt;核心能力 ③：研发与船级社标准&lt;/Text&gt;&#10;  &lt;/Box&gt;&#10;  &lt;Box style={{ height: 720, padding: '150 64 120 64', flexDirection: 'row', gap: 40 }}&gt;&#10;    &lt;Box style={{ width: '65%', height: '100%', flexDirection: 'column', justifyContent: 'space-between' }}&gt;&#10;      &lt;Box style={{ background: '#ffffff', borderRadius: 12, padding: '22 26', boxShadow: '0 2px 12px rgba(11,37,69,0.06)' }}&gt;&#10;        &lt;Text style={{ fontSize: 22, fontWeight: 'bold', color: '#0B2545', fontFamily: 'Microsoft YaHei' }}&gt;新船型导入 Agent&lt;/Text&gt;&#10;        &lt;Text style={{ fontSize: 16, color: '#475569', fontFamily: 'Microsoft YaHei', lineHeight: 1.6, marginTop: 8 }}&gt;全生命周期里程碑跟踪、风险识别与批量试产节点提醒，让新项目不再靠人脑记节点。&lt;/Text&gt;&#10;      &lt;/Box&gt;&#10;      &lt;Box style={{ background: '#ffffff', borderRadius: 12, padding: '22 26', boxShadow: '0 2px 12px rgba(11,37,69,0.06)' }}&gt;&#10;        &lt;Text style={{ fontSize: 22, fontWeight: 'bold', color: '#0B2545', fontFamily: 'Microsoft YaHei' }}&gt;船级社标准 Agent&lt;/Text&gt;&#10;        &lt;Text style={{ fontSize: 16, color: '#475569', fontFamily: 'Microsoft YaHei', lineHeight: 1.6, marginTop: 8 }}&gt;IACS / CCS / LR / DNV / ABS 等规范辅助查询与缺陷判定，对话即得答案。&lt;/Text&gt;&#10;      &lt;/Box&gt;&#10;      &lt;Box style={{ background: '#ffffff', borderRadius: 12, padding: '22 26', boxShadow: '0 2px 12px rgba(11,37,69,0.06)' }}&gt;&#10;        &lt;Text style={{ fontSize: 22, fontWeight: 'bold', color: '#0B2545', fontFamily: 'Microsoft YaHei' }}&gt;设计变更 Agent&lt;/Text&gt;&#10;        &lt;Text style={{ fontSize: 16, color: '#475569', fontFamily: 'Microsoft YaHei', lineHeight: 1.6, marginTop: 8 }}&gt;受影响 BOM、在制、库存、工序自动识别，并驱动跨部门协同闭环。&lt;/Text&gt;&#10;      &lt;/Box&gt;&#10;    &lt;/Box&gt;&#10;    &lt;Box style={{ flex: 1, height: '100%', background: 'linear-gradient(135deg, #0B2545 0%, #2563EB 100%)', borderRadius: 16, padding: '28 26', flexDirection: 'column', justifyContent: 'center', gap: 26 }}&gt;&#10;      &lt;Box&gt;&#10;        &lt;Text style={{ fontSize: 30, color: '#ffffff', fontFamily: 'Microsoft YaHei', fontWeight: 'bold' }}&gt;缩短研发周期&lt;/Text&gt;&#10;        &lt;Text style={{ fontSize: 15, color: '#CBD5E1', fontFamily: 'Microsoft YaHei', lineHeight: 1.6, marginTop: 6 }}&gt;规范查询从「翻文档」变「问一句」。&lt;/Text&gt;&#10;      &lt;/Box&gt;&#10;      &lt;Box&gt;&#10;        &lt;Text style={{ fontSize: 30, color: '#ffffff', fontFamily: 'Microsoft YaHei', fontWeight: 'bold' }}&gt;合规可追溯&lt;/Text&gt;&#10;        &lt;Text style={{ fontSize: 15, color: '#CBD5E1', fontFamily: 'Microsoft YaHei', lineHeight: 1.6, marginTop: 6 }}&gt;船级社条款与判定有据可查。&lt;/Text&gt;&#10;      &lt;/Box&gt;&#10;      &lt;Box&gt;&#10;        &lt;Text style={{ fontSize: 30, color: '#ffffff', fontFamily: 'Microsoft YaHei', fontWeight: 'bold' }}&gt;跨部门协同&lt;/Text&gt;&#10;        &lt;Text style={{ fontSize: 15, color: '#CBD5E1', fontFamily: 'Microsoft YaHei', lineHeight: 1.6, marginTop: 6 }}&gt;变更影响一键量化并分发。&lt;/Text&gt;&#10;      &lt;/Box&gt;&#10;    &lt;/Box&gt;&#10;  &lt;/Box&gt;&#10;  &lt;Box style={{ position: 'absolute', bottom: 0, left: 0, width: '100%', height: 60, flexDirection: 'row', justifyContent: 'space-between', alignItems: 'center', padding: '0 64' }}&gt;&#10;    &lt;Text style={{ fontSize: 14, color: '#475569', fontFamily: 'Microsoft YaHei' }}&gt;智衍 EvolvIQ · 造船行业版&lt;/Text&gt;&#10;    &lt;Text style={{ fontSize: 14, color: '#475569', fontFamily: 'Microsoft YaHei' }}&gt;08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609600" y="1428750"/>
            <a:ext cx="71342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57250" y="1638300"/>
            <a:ext cx="6638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新船型导入</a:t>
            </a:r>
            <a:r>
              <a:rPr lang="en-US" sz="1650" b="1">
                <a:solidFill>
                  <a:srgbClr val="0B2545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57250" y="1971675"/>
            <a:ext cx="66389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全生命周期里程碑跟踪、风险识别与批量试产节点提醒，让新项目不再靠人脑记节点。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" y="3048000"/>
            <a:ext cx="71342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57250" y="3257550"/>
            <a:ext cx="6638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船级社标准</a:t>
            </a:r>
            <a:r>
              <a:rPr lang="en-US" sz="1650" b="1">
                <a:solidFill>
                  <a:srgbClr val="0B2545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57250" y="3590925"/>
            <a:ext cx="66389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IACS / CCS / LR / DNV / ABS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等规范辅助查询与缺陷判定，对话即得答案。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09600" y="4667250"/>
            <a:ext cx="7134225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57250" y="4876800"/>
            <a:ext cx="6638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设计变更</a:t>
            </a:r>
            <a:r>
              <a:rPr lang="en-US" sz="1650" b="1">
                <a:solidFill>
                  <a:srgbClr val="0B2545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57250" y="5210175"/>
            <a:ext cx="66389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受影响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BOM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、在制、库存、工序自动识别，并驱动跨部门协同闭环。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8124825" y="1428750"/>
            <a:ext cx="3457575" cy="4286250"/>
          </a:xfrm>
          <a:prstGeom prst="roundRect">
            <a:avLst>
              <a:gd name="adj" fmla="val 4408"/>
            </a:avLst>
          </a:prstGeom>
          <a:gradFill>
            <a:gsLst>
              <a:gs pos="0">
                <a:srgbClr val="0B2545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372475" y="2314575"/>
            <a:ext cx="2962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缩短研发周期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372475" y="2714625"/>
            <a:ext cx="29622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规范查询从「翻文档」变「问一句」。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72475" y="3238500"/>
            <a:ext cx="2962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合规可追溯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372475" y="3638550"/>
            <a:ext cx="29622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船级社条款与判定有据可查。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372475" y="4162425"/>
            <a:ext cx="2962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跨部门协同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372475" y="4562475"/>
            <a:ext cx="29622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D5E1"/>
                </a:solidFill>
                <a:latin typeface="Microsoft YaHei"/>
                <a:ea typeface="Microsoft YaHei"/>
              </a:rPr>
              <a:t>变更影响一键量化并分发。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0" y="0"/>
            <a:ext cx="1219200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核心能力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③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：研发与船级社标准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EvolvIQ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造船行业版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0" name="" descr="&lt;Slide style={{ width: 1280, height: 720, position: 'relative', background: '#F1F5F9' }}&gt;&#10;  &lt;Box style={{ position: 'absolute', top: 0, left: 0, width: '100%', height: 120, background: '#0B2545', justifyContent: 'center', padding: '0 64' }}&gt;&#10;    &lt;Text style={{ fontSize: 34, fontWeight: 'bold', color: '#ffffff', fontFamily: 'Microsoft YaHei' }}&gt;技术架构：数字孪生五要素&lt;/Text&gt;&#10;  &lt;/Box&gt;&#10;  &lt;Box style={{ height: 720, padding: '150 64 120 64', flexDirection: 'row', gap: 40 }}&gt;&#10;    &lt;Box style={{ width: '32%', height: '100%', background: 'linear-gradient(135deg, #0B2545 0%, #2563EB 100%)', borderRadius: 16, padding: '32 28', flexDirection: 'column', justifyContent: 'center' }}&gt;&#10;      &lt;Text style={{ fontSize: 18, color: '#06B6D4', fontFamily: 'Microsoft YaHei', fontWeight: 'bold' }}&gt;ARCHITECTURE · 底座&lt;/Text&gt;&#10;      &lt;Text style={{ fontSize: 36, color: '#ffffff', fontFamily: 'Microsoft YaHei', fontWeight: 'bold', marginTop: 14, lineHeight: 1.3 }}&gt;数字孪生&lt;br /&gt;五要素&lt;/Text&gt;&#10;      &lt;Text style={{ fontSize: 16, color: '#CBD5E1', fontFamily: 'Microsoft YaHei', lineHeight: 1.7, marginTop: 18 }}&gt;行业成为数据驱动的一等公民：行业 = manifest，新增行业只丢一个 JSON。&lt;/Text&gt;&#10;    &lt;/Box&gt;&#10;    &lt;Box style={{ flex: 1, height: '100%', background: '#ffffff', borderRadius: 16, padding: 20, flexDirection: 'column', boxShadow: '0 2px 12px rgba(11,37,69,0.06)' }}&gt;&#10;      &lt;Box style={{ height: 280, justifyContent: 'center', alignItems: 'center' }}&gt;&#10;        &lt;svg width='100%' height='100%' viewBox='0 0 520 400'&gt;&#10;          &lt;rect x='20' y='10' width='480' height='60' rx='10' fill='#0B2545' /&gt;&#10;          &lt;text x='44' y='46' fill='#ffffff' fontSize='20' fontFamily='Microsoft YaHei' fontWeight='bold'&gt;OGG 几何内核&lt;/text&gt;&#10;          &lt;text x='280' y='46' fill='#94A3B8' fontSize='15' fontFamily='Microsoft YaHei'&gt;统一几何与拓扑真相源&lt;/text&gt;&#10;          &lt;text x='250' y='88' fill='#94A3B8' fontSize='18' fontFamily='Microsoft YaHei'&gt;▼&lt;/text&gt;&#10;          &lt;rect x='20' y='100' width='480' height='60' rx='10' fill='#2563EB' /&gt;&#10;          &lt;text x='44' y='136' fill='#ffffff' fontSize='20' fontFamily='Microsoft YaHei' fontWeight='bold'&gt;Agent 智能层&lt;/text&gt;&#10;          &lt;text x='280' y='136' fill='#DBEAFE' fontSize='15' fontFamily='Microsoft YaHei'&gt;十类行业智能体决策&lt;/text&gt;&#10;          &lt;text x='250' y='178' fill='#94A3B8' fontSize='18' fontFamily='Microsoft YaHei'&gt;▼&lt;/text&gt;&#10;          &lt;rect x='20' y='190' width='480' height='60' rx='10' fill='#06B6D4' /&gt;&#10;          &lt;text x='44' y='226' fill='#ffffff' fontSize='20' fontFamily='Microsoft YaHei' fontWeight='bold'&gt;实时数据&lt;/text&gt;&#10;          &lt;text x='280' y='226' fill='#E0F2FE' fontSize='15' fontFamily='Microsoft YaHei'&gt;UNS 事件流持续接入&lt;/text&gt;&#10;          &lt;text x='250' y='268' fill='#94A3B8' fontSize='18' fontFamily='Microsoft YaHei'&gt;▼&lt;/text&gt;&#10;          &lt;rect x='20' y='280' width='480' height='60' rx='10' fill='#475569' /&gt;&#10;          &lt;text x='44' y='316' fill='#ffffff' fontSize='20' fontFamily='Microsoft YaHei' fontWeight='bold'&gt;CAE 仿真&lt;/text&gt;&#10;          &lt;text x='280' y='316' fill='#E2E8F0' fontSize='15' fontFamily='Microsoft YaHei'&gt;工艺与结构虚拟验证&lt;/text&gt;&#10;          &lt;text x='250' y='358' fill='#94A3B8' fontSize='18' fontFamily='Microsoft YaHei'&gt;▼&lt;/text&gt;&#10;          &lt;rect x='20' y='370' width='480' height='22' rx='8' fill='#0B2545' /&gt;&#10;          &lt;text x='44' y='386' fill='#ffffff' fontSize='14' fontFamily='Microsoft YaHei' fontWeight='bold'&gt;验证闭环：结论回流资产层，持续自我进化&lt;/text&gt;&#10;        &lt;/svg&gt;&#10;      &lt;/Box&gt;&#10;      &lt;Box style={{ marginTop: 12, background: '#EFF6FF', borderRadius: 10, padding: '12 16' }}&gt;&#10;        &lt;Text style={{ fontSize: 15, color: '#0B2545', fontFamily: 'Microsoft YaHei', lineHeight: 1.6 }}&gt;行业 = manifest（设备表 / 触发词 / 智能体覆盖），新增行业只丢一个 JSON，零代码改动。&lt;/Text&gt;&#10;      &lt;/Box&gt;&#10;    &lt;/Box&gt;&#10;  &lt;/Box&gt;&#10;  &lt;Box style={{ position: 'absolute', bottom: 0, left: 0, width: '100%', height: 60, flexDirection: 'row', justifyContent: 'space-between', alignItems: 'center', padding: '0 64' }}&gt;&#10;    &lt;Text style={{ fontSize: 14, color: '#475569', fontFamily: 'Microsoft YaHei' }}&gt;智衍 EvolvIQ · 造船行业版&lt;/Text&gt;&#10;    &lt;Text style={{ fontSize: 14, color: '#475569', fontFamily: 'Microsoft YaHei' }}&gt;09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609600" y="1428750"/>
            <a:ext cx="3514725" cy="4286250"/>
          </a:xfrm>
          <a:prstGeom prst="roundRect">
            <a:avLst>
              <a:gd name="adj" fmla="val 4336"/>
            </a:avLst>
          </a:prstGeom>
          <a:gradFill>
            <a:gsLst>
              <a:gs pos="0">
                <a:srgbClr val="0B2545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76300" y="2466975"/>
            <a:ext cx="2981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B6D4"/>
                </a:solidFill>
                <a:latin typeface="Microsoft YaHei"/>
                <a:ea typeface="Microsoft YaHei"/>
              </a:rPr>
              <a:t xml:space="preserve">ARCHITECTURE · </a:t>
            </a:r>
            <a:r>
              <a:rPr lang="zh-CN" sz="1350" b="1">
                <a:solidFill>
                  <a:srgbClr val="06B6D4"/>
                </a:solidFill>
                <a:latin typeface="Microsoft YaHei"/>
                <a:ea typeface="Microsoft YaHei"/>
              </a:rPr>
              <a:t>底座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76300" y="2809875"/>
            <a:ext cx="2981325" cy="1076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数字孪生</a:t>
            </a:r>
            <a:endParaRPr/>
          </a:p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五要素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76300" y="4057650"/>
            <a:ext cx="29813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行业成为数据驱动的一等公民：行业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= manifest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，新增行业只丢一个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4505325" y="1428750"/>
            <a:ext cx="7077075" cy="428625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695825" y="1619250"/>
            <a:ext cx="6696075" cy="2667000"/>
          </a:xfrm>
          <a:prstGeom prst="rect">
            <a:avLst/>
          </a:prstGeom>
          <a:ln/>
        </p:spPr>
      </p:pic>
      <p:sp>
        <p:nvSpPr>
          <p:cNvPr id="268" name=""/>
          <p:cNvSpPr/>
          <p:nvPr/>
        </p:nvSpPr>
        <p:spPr>
          <a:xfrm rot="0" flipH="0" flipV="0">
            <a:off x="4695825" y="4400550"/>
            <a:ext cx="6696075" cy="504825"/>
          </a:xfrm>
          <a:prstGeom prst="roundRect">
            <a:avLst>
              <a:gd name="adj" fmla="val 18868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848225" y="4514850"/>
            <a:ext cx="63912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0B2545"/>
                </a:solidFill>
                <a:latin typeface="Microsoft YaHei"/>
                <a:ea typeface="Microsoft YaHei"/>
              </a:rPr>
              <a:t>行业</a:t>
            </a:r>
            <a:r>
              <a:rPr lang="en-US" sz="1125">
                <a:solidFill>
                  <a:srgbClr val="0B2545"/>
                </a:solidFill>
                <a:latin typeface="Microsoft YaHei"/>
                <a:ea typeface="Microsoft YaHei"/>
              </a:rPr>
              <a:t xml:space="preserve"> = manifest</a:t>
            </a:r>
            <a:r>
              <a:rPr lang="zh-CN" sz="1125">
                <a:solidFill>
                  <a:srgbClr val="0B2545"/>
                </a:solidFill>
                <a:latin typeface="Microsoft YaHei"/>
                <a:ea typeface="Microsoft YaHei"/>
              </a:rPr>
              <a:t>（设备表</a:t>
            </a:r>
            <a:r>
              <a:rPr lang="en-US" sz="1125">
                <a:solidFill>
                  <a:srgbClr val="0B2545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0B2545"/>
                </a:solidFill>
                <a:latin typeface="Microsoft YaHei"/>
                <a:ea typeface="Microsoft YaHei"/>
              </a:rPr>
              <a:t>触发词</a:t>
            </a:r>
            <a:r>
              <a:rPr lang="en-US" sz="1125">
                <a:solidFill>
                  <a:srgbClr val="0B2545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0B2545"/>
                </a:solidFill>
                <a:latin typeface="Microsoft YaHei"/>
                <a:ea typeface="Microsoft YaHei"/>
              </a:rPr>
              <a:t>智能体覆盖），新增行业只丢一个</a:t>
            </a:r>
            <a:r>
              <a:rPr lang="en-US" sz="1125">
                <a:solidFill>
                  <a:srgbClr val="0B2545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125">
                <a:solidFill>
                  <a:srgbClr val="0B2545"/>
                </a:solidFill>
                <a:latin typeface="Microsoft YaHei"/>
                <a:ea typeface="Microsoft YaHei"/>
              </a:rPr>
              <a:t>，零代码改动。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0" y="0"/>
            <a:ext cx="1219200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技术架构：数字孪生五要素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EvolvIQ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造船行业版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0" name="" descr="&lt;Slide style={{ width: 1280, height: 720, position: 'relative', background: '#0B2545' }}&gt;&#10;  &lt;Image src=&quot;assets/demo_screen.png&quot; style={{ position: 'absolute', top: 0, left: 0, width: '100%', height: '100%', objectFit: 'cover' }} /&gt;&#10;  &lt;Box style={{ position: 'absolute', top: 0, left: 0, width: '100%', height: '100%', background: 'linear-gradient(135deg, rgba(11,37,69,0.88) 0%, rgba(11,37,69,0.6) 45%, rgba(11,37,69,0.25) 75%, transparent 100%)' }} /&gt;&#10;  &lt;Box style={{ position: 'relative', zIndex: 2, padding: '64px 64px 56px 64px', height: '100%', flexDirection: 'column', justifyContent: 'space-between', alignItems: 'flex-start' }}&gt;&#10;    &lt;Box style={{ flexDirection: 'column', gap: 10 }}&gt;&#10;      &lt;Text style={{ fontSize: 18, color: '#06B6D4', fontFamily: 'Microsoft YaHei', fontWeight: 'bold', letterSpacing: '2px' }}&gt;应用价值 · 演示成效&lt;/Text&gt;&#10;      &lt;Text style={{ fontSize: 54, fontWeight: 'bold', color: '#ffffff', fontFamily: 'Microsoft YaHei', lineHeight: 1.1 }}&gt;从看报表到&lt;br /&gt;实时决策&lt;/Text&gt;&#10;    &lt;/Box&gt;&#10;    &lt;Box style={{ flexDirection: 'column', gap: 16, maxWidth: 760 }}&gt;&#10;      &lt;Box style={{ flexDirection: 'row', gap: 16, flexWrap: 'wrap' }}&gt;&#10;        &lt;Box style={{ background: 'rgba(6,182,212,0.18)', borderRadius: 10, padding: '12 18', borderLeft: '4px solid #06B6D4' }}&gt;&#10;          &lt;Text style={{ fontSize: 18, color: '#ffffff', fontFamily: 'Microsoft YaHei', fontWeight: 'bold' }}&gt;7 台关键设备点亮进设备卡&lt;/Text&gt;&#10;        &lt;/Box&gt;&#10;        &lt;Box style={{ background: 'rgba(6,182,212,0.18)', borderRadius: 10, padding: '12 18', borderLeft: '4px solid #06B6D4' }}&gt;&#10;          &lt;Text style={{ fontSize: 18, color: '#ffffff', fontFamily: 'Microsoft YaHei', fontWeight: 'bold' }}&gt;UNS 实时事件流上屏&lt;/Text&gt;&#10;        &lt;/Box&gt;&#10;        &lt;Box style={{ background: 'rgba(6,182,212,0.18)', borderRadius: 10, padding: '12 18', borderLeft: '4px solid #06B6D4' }}&gt;&#10;          &lt;Text style={{ fontSize: 18, color: '#ffffff', fontFamily: 'Microsoft YaHei', fontWeight: 'bold' }}&gt;决策实时化率作北极星&lt;/Text&gt;&#10;        &lt;/Box&gt;&#10;      &lt;/Box&gt;&#10;      &lt;Text style={{ fontSize: 22, color: '#F1F5F9', fontFamily: 'Microsoft YaHei', lineHeight: 1.6 }}&gt;某大型造船集团演示租户，已从「看报表」升级为「实时看板 + 预警 + 预案」——经营管控者第一次拥有可对话的决策分身。&lt;/Text&gt;&#10;    &lt;/Box&gt;&#10;  &lt;/Box&gt;&#10;  &lt;Box style={{ position: 'absolute', bottom: 0, left: 0, width: '100%', height: 56, flexDirection: 'row', justifyContent: 'flex-end', alignItems: 'center', padding: '0 64' }}&gt;&#10;    &lt;Text style={{ fontSize: 14, color: '#E2E8F0', fontFamily: 'Microsoft YaHei' }}&gt;10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pic>
        <p:nvPicPr>
          <p:cNvPr id="12" name=""/>
          <p:cNvPicPr>
            <a:picLocks noChangeAspect="1"/>
          </p:cNvPicPr>
          <p:nvPr/>
        </p:nvPicPr>
        <p:blipFill>
          <a:blip r:embed="rId1"/>
          <a:srcRect l="0" t="8894" r="0" b="8894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545">
                  <a:alpha val="88000"/>
                </a:srgbClr>
              </a:gs>
              <a:gs pos="45000">
                <a:srgbClr val="0B2545">
                  <a:alpha val="60000"/>
                </a:srgbClr>
              </a:gs>
              <a:gs pos="75000">
                <a:srgbClr val="0B2545">
                  <a:alpha val="25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1125200" y="65151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150">
                <a:solidFill>
                  <a:srgbClr val="06B6D4"/>
                </a:solidFill>
                <a:latin typeface="Microsoft YaHei"/>
                <a:ea typeface="Microsoft YaHei"/>
              </a:rPr>
              <a:t>应用价值</a:t>
            </a:r>
            <a:r>
              <a:rPr lang="en-US" sz="1350" b="1" spc="150">
                <a:solidFill>
                  <a:srgbClr val="06B6D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 spc="150">
                <a:solidFill>
                  <a:srgbClr val="06B6D4"/>
                </a:solidFill>
                <a:latin typeface="Microsoft YaHei"/>
                <a:ea typeface="Microsoft YaHei"/>
              </a:rPr>
              <a:t>演示成效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2571750" cy="13620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从看报表到</a:t>
            </a:r>
            <a:endParaRPr/>
          </a:p>
          <a:p>
            <a:pPr>
              <a:lnSpc>
                <a:spcPct val="110000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实时决策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47700" y="4924425"/>
            <a:ext cx="2428875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8000"/>
            </a:srgbClr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647700" y="4924425"/>
            <a:ext cx="2428875" cy="438150"/>
          </a:xfrm>
          <a:custGeom>
            <a:pathLst>
              <a:path w="255" h="46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0"/>
                </a:lnTo>
                <a:cubicBezTo>
                  <a:pt x="4" y="43"/>
                  <a:pt x="6" y="45"/>
                  <a:pt x="9" y="46"/>
                </a:cubicBezTo>
                <a:cubicBezTo>
                  <a:pt x="4" y="45"/>
                  <a:pt x="0" y="41"/>
                  <a:pt x="0" y="3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19150" y="5038725"/>
            <a:ext cx="2047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台关键设备点亮进设备卡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3228975" y="4924425"/>
            <a:ext cx="2019300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8000"/>
            </a:srgbClr>
          </a:soli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3228975" y="4924425"/>
            <a:ext cx="2019300" cy="438150"/>
          </a:xfrm>
          <a:custGeom>
            <a:pathLst>
              <a:path w="212" h="46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0"/>
                </a:lnTo>
                <a:cubicBezTo>
                  <a:pt x="4" y="43"/>
                  <a:pt x="6" y="45"/>
                  <a:pt x="9" y="46"/>
                </a:cubicBezTo>
                <a:cubicBezTo>
                  <a:pt x="4" y="45"/>
                  <a:pt x="0" y="41"/>
                  <a:pt x="0" y="3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400425" y="5038725"/>
            <a:ext cx="1638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UNS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实时事件流上屏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400675" y="4924425"/>
            <a:ext cx="2095500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8000"/>
            </a:srgbClr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5400675" y="4924425"/>
            <a:ext cx="2095500" cy="438150"/>
          </a:xfrm>
          <a:custGeom>
            <a:pathLst>
              <a:path w="220" h="46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0"/>
                </a:lnTo>
                <a:cubicBezTo>
                  <a:pt x="4" y="43"/>
                  <a:pt x="6" y="45"/>
                  <a:pt x="9" y="46"/>
                </a:cubicBezTo>
                <a:cubicBezTo>
                  <a:pt x="4" y="45"/>
                  <a:pt x="0" y="41"/>
                  <a:pt x="0" y="3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572125" y="503872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决策实时化率作北极星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" y="5514975"/>
            <a:ext cx="72390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F1F5F9"/>
                </a:solidFill>
                <a:latin typeface="Microsoft YaHei"/>
                <a:ea typeface="Microsoft YaHei"/>
              </a:rPr>
              <a:t>某大型造船集团演示租户，已从「看报表」升级为「实时看板</a:t>
            </a:r>
            <a:r>
              <a:rPr lang="en-US" sz="1650">
                <a:solidFill>
                  <a:srgbClr val="F1F5F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>
                <a:solidFill>
                  <a:srgbClr val="F1F5F9"/>
                </a:solidFill>
                <a:latin typeface="Microsoft YaHei"/>
                <a:ea typeface="Microsoft YaHei"/>
              </a:rPr>
              <a:t>预警</a:t>
            </a:r>
            <a:r>
              <a:rPr lang="en-US" sz="1650">
                <a:solidFill>
                  <a:srgbClr val="F1F5F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>
                <a:solidFill>
                  <a:srgbClr val="F1F5F9"/>
                </a:solidFill>
                <a:latin typeface="Microsoft YaHei"/>
                <a:ea typeface="Microsoft YaHei"/>
              </a:rPr>
              <a:t>预案」——经营管控者第一次拥有可对话的决策分身。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7" name="" descr="&lt;Slide style={{ width: 1280, height: 720, position: 'relative', background: '#F1F5F9' }}&gt;&#10;  &lt;Box style={{ position: 'absolute', top: 0, left: 0, width: '100%', height: 120, background: '#0B2545', justifyContent: 'center', padding: '0 64' }}&gt;&#10;    &lt;Text style={{ fontSize: 34, fontWeight: 'bold', color: '#ffffff', fontFamily: 'Microsoft YaHei' }}&gt;客户广度 · 我们已走进多家头部造船集团&lt;/Text&gt;&#10;  &lt;/Box&gt;&#10;  &lt;Box style={{ height: 720, padding: '150 64 120 64', flexDirection: 'row', gap: 40 }}&gt;&#10;    &lt;Box style={{ width: '38%', height: '100%', background: 'linear-gradient(135deg, #0B2545 0%, #2563EB 100%)', borderRadius: 16, padding: '32 30', flexDirection: 'column', justifyContent: 'center' }}&gt;&#10;      &lt;Text style={{ fontSize: 18, color: '#06B6D4', fontFamily: 'Microsoft YaHei', fontWeight: 'bold', letterSpacing: '2px' }}&gt;CLIENT BREADTH · 广度&lt;/Text&gt;&#10;      &lt;Box style={{ flexDirection: 'row', alignItems: 'baseline', gap: 10, marginTop: 18 }}&gt;&#10;        &lt;Text style={{ fontSize: 96, fontWeight: 'bold', color: '#06B6D4', fontFamily: 'Arial' }}&gt;3+&lt;/Text&gt;&#10;        &lt;Text style={{ fontSize: 28, color: '#ffffff', fontFamily: 'Microsoft YaHei', fontWeight: 'bold' }}&gt;家头部&lt;bt /&gt;造船集团&lt;/Text&gt;&#10;      &lt;/Box&gt;&#10;      &lt;Box style={{ width: 80, height: 4, background: '#06B6D4', marginTop: 24 }} /&gt;&#10;      &lt;Text style={{ fontSize: 17, color: '#CBD5E1', fontFamily: 'Microsoft YaHei', lineHeight: 1.8, marginTop: 24 }}&gt;已覆盖三类典型形态：大型造船集团演示租户、邮轮与散货船建造龙头、液化气船与高端船舶建造龙头。&lt;/Text&gt;&#10;      &lt;Text style={{ fontSize: 17, color: '#CBD5E1', fontFamily: 'Microsoft YaHei', lineHeight: 1.8, marginTop: 16 }}&gt;推进路径：培训赋能 → 业务接触 → 试点进阶，系统化沉淀行业认知。&lt;/Text&gt;&#10;    &lt;/Box&gt;&#10;    &lt;Box style={{ flex: 1, height: '100%', flexDirection: 'column', justifyContent: 'space-between' }}&gt;&#10;      &lt;Box style={{ background: '#ffffff', borderRadius: 12, padding: '20 24', boxShadow: '0 2px 12px rgba(11,37,69,0.06)', flexDirection: 'row', gap: 18, alignItems: 'center' }}&gt;&#10;        &lt;Box style={{ width: 8, height: 64, background: '#0B2545', borderRadius: 4 }} /&gt;&#10;        &lt;Box style={{ flex: 1 }}&gt;&#10;          &lt;Text style={{ fontSize: 21, fontWeight: 'bold', color: '#0B2545', fontFamily: 'Microsoft YaHei' }}&gt;某大型造船集团演示租户&lt;/Text&gt;&#10;          &lt;Text style={{ fontSize: 15, color: '#475569', fontFamily: 'Microsoft YaHei', lineHeight: 1.6, marginTop: 6 }}&gt;已完成 7 台关键设备点亮 + UNS 实时事件流上线，进入演示验证阶段（分阶段推进）。&lt;/Text&gt;&#10;        &lt;/Box&gt;&#10;        &lt;Text style={{ fontSize: 14, color: '#06B6D4', fontFamily: 'Microsoft YaHei', fontWeight: 'bold' }}&gt;试点中&lt;/Text&gt;&#10;      &lt;/Box&gt;&#10;      &lt;Box style={{ background: '#ffffff', borderRadius: 12, padding: '20 24', boxShadow: '0 2px 12px rgba(11,37,69,0.06)', flexDirection: 'row', gap: 18, alignItems: 'center' }}&gt;&#10;        &lt;Box style={{ width: 8, height: 64, background: '#2563EB', borderRadius: 4 }} /&gt;&#10;        &lt;Box style={{ flex: 1 }}&gt;&#10;          &lt;Text style={{ fontSize: 21, fontWeight: 'bold', color: '#0B2545', fontFamily: 'Microsoft YaHei' }}&gt;某邮轮与散货船建造龙头&lt;/Text&gt;&#10;          &lt;Text style={{ fontSize: 15, color: '#475569', fontFamily: 'Microsoft YaHei', lineHeight: 1.6, marginTop: 6 }}&gt;已完成专项培训与业务场景接触，聚焦设备健康与质量一次合格率。&lt;/Text&gt;&#10;        &lt;/Box&gt;&#10;        &lt;Text style={{ fontSize: 14, color: '#2563EB', fontFamily: 'Microsoft YaHei', fontWeight: 'bold' }}&gt;接触中&lt;/Text&gt;&#10;      &lt;/Box&gt;&#10;      &lt;Box style={{ background: '#ffffff', borderRadius: 12, padding: '20 24', boxShadow: '0 2px 12px rgba(11,37,69,0.06)', flexDirection: 'row', gap: 18, alignItems: 'center' }}&gt;&#10;        &lt;Box style={{ width: 8, height: 64, background: '#06B6D4', borderRadius: 4 }} /&gt;&#10;        &lt;Box style={{ flex: 1 }}&gt;&#10;          &lt;Text style={{ fontSize: 21, fontWeight: 'bold', color: '#0B2545', fontFamily: 'Microsoft YaHei' }}&gt;某液化气船与高端船舶建造龙头&lt;/Text&gt;&#10;          &lt;Text style={{ fontSize: 15, color: '#475569', fontFamily: 'Microsoft YaHei', lineHeight: 1.6, marginTop: 6 }}&gt;已完成管理层培训与智能船厂蓝图探讨，聚焦研发与船级社标准。&lt;/Text&gt;&#10;        &lt;/Box&gt;&#10;        &lt;Text style={{ fontSize: 14, color: '#06B6D4', fontFamily: 'Microsoft YaHei', fontWeight: 'bold' }}&gt;培训中&lt;/Text&gt;&#10;      &lt;/Box&gt;&#10;      &lt;Box style={{ background: '#EFF6FF', borderRadius: 10, padding: '10 16' }}&gt;&#10;        &lt;Text style={{ fontSize: 13, color: '#475569', fontFamily: 'Microsoft YaHei', lineHeight: 1.5 }}&gt;零真名铁律：对外均匿名呈现，真实主体仅限内部视图，不点名、不暴露商业关系。&lt;/Text&gt;&#10;      &lt;/Box&gt;&#10;    &lt;/Box&gt;&#10;  &lt;/Box&gt;&#10;  &lt;Box style={{ position: 'absolute', bottom: 0, left: 0, width: '100%', height: 60, flexDirection: 'row', justifyContent: 'space-between', alignItems: 'center', padding: '0 64' }}&gt;&#10;    &lt;Text style={{ fontSize: 14, color: '#475569', fontFamily: 'Microsoft YaHei' }}&gt;智衍 EvolvIQ · 造船行业版&lt;/Text&gt;&#10;    &lt;Text style={{ fontSize: 14, color: '#475569', fontFamily: 'Microsoft YaHei' }}&gt;11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609600" y="1428750"/>
            <a:ext cx="4171950" cy="4286250"/>
          </a:xfrm>
          <a:prstGeom prst="roundRect">
            <a:avLst>
              <a:gd name="adj" fmla="val 3653"/>
            </a:avLst>
          </a:prstGeom>
          <a:gradFill>
            <a:gsLst>
              <a:gs pos="0">
                <a:srgbClr val="0B2545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95350" y="1628775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150">
                <a:solidFill>
                  <a:srgbClr val="06B6D4"/>
                </a:solidFill>
                <a:latin typeface="Microsoft YaHei"/>
                <a:ea typeface="Microsoft YaHei"/>
              </a:rPr>
              <a:t xml:space="preserve">CLIENT BREADTH · </a:t>
            </a:r>
            <a:r>
              <a:rPr lang="zh-CN" sz="1350" b="1" spc="150">
                <a:solidFill>
                  <a:srgbClr val="06B6D4"/>
                </a:solidFill>
                <a:latin typeface="Microsoft YaHei"/>
                <a:ea typeface="Microsoft YaHei"/>
              </a:rPr>
              <a:t>广度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95350" y="2009775"/>
            <a:ext cx="10477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06B6D4"/>
                </a:solidFill>
                <a:latin typeface="Arial"/>
                <a:ea typeface="Arial"/>
              </a:rPr>
              <a:t>3+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2038350" y="2009775"/>
            <a:ext cx="18669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家头部</a:t>
            </a: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造船集团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895350" y="3343275"/>
            <a:ext cx="762000" cy="38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95350" y="3609975"/>
            <a:ext cx="360045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已覆盖三类典型形态：大型造船集团演示租户、邮轮与散货船建造龙头、液化气船与高端船舶建造龙头。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95350" y="4819650"/>
            <a:ext cx="36004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推进路径：培训赋能</a:t>
            </a: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业务接触</a:t>
            </a:r>
            <a:r>
              <a:rPr lang="en-US" sz="1275">
                <a:solidFill>
                  <a:srgbClr val="CBD5E1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CBD5E1"/>
                </a:solidFill>
                <a:latin typeface="Microsoft YaHei"/>
                <a:ea typeface="Microsoft YaHei"/>
              </a:rPr>
              <a:t>试点进阶，系统化沉淀行业认知。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5162550" y="1428750"/>
            <a:ext cx="641985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5391150" y="1743075"/>
            <a:ext cx="76200" cy="6096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638800" y="1619250"/>
            <a:ext cx="5143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545"/>
                </a:solidFill>
                <a:latin typeface="Microsoft YaHei"/>
                <a:ea typeface="Microsoft YaHei"/>
              </a:rPr>
              <a:t>某大型造船集团演示租户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638800" y="1924050"/>
            <a:ext cx="5143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已完成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台关键设备点亮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+ UNS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实时事件流上线，进入演示验证阶段（分阶段推进）。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0953750" y="19716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B6D4"/>
                </a:solidFill>
                <a:latin typeface="Microsoft YaHei"/>
                <a:ea typeface="Microsoft YaHei"/>
              </a:rPr>
              <a:t>试点中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162550" y="2886075"/>
            <a:ext cx="64198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5391150" y="3076575"/>
            <a:ext cx="76200" cy="60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638800" y="3095625"/>
            <a:ext cx="5143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545"/>
                </a:solidFill>
                <a:latin typeface="Microsoft YaHei"/>
                <a:ea typeface="Microsoft YaHei"/>
              </a:rPr>
              <a:t>某邮轮与散货船建造龙头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638800" y="3400425"/>
            <a:ext cx="5143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已完成专项培训与业务场景接触，聚焦设备健康与质量一次合格率。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0953750" y="33051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接触中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162550" y="4086225"/>
            <a:ext cx="64198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5391150" y="4276725"/>
            <a:ext cx="76200" cy="6096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638800" y="4295775"/>
            <a:ext cx="5143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545"/>
                </a:solidFill>
                <a:latin typeface="Microsoft YaHei"/>
                <a:ea typeface="Microsoft YaHei"/>
              </a:rPr>
              <a:t>某液化气船与高端船舶建造龙头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638800" y="4600575"/>
            <a:ext cx="5143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已完成管理层培训与智能船厂蓝图探讨，聚焦研发与船级社标准。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953750" y="45053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B6D4"/>
                </a:solidFill>
                <a:latin typeface="Microsoft YaHei"/>
                <a:ea typeface="Microsoft YaHei"/>
              </a:rPr>
              <a:t>培训中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5162550" y="5295900"/>
            <a:ext cx="6419850" cy="419100"/>
          </a:xfrm>
          <a:prstGeom prst="roundRect">
            <a:avLst>
              <a:gd name="adj" fmla="val 22727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314950" y="5391150"/>
            <a:ext cx="61150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Microsoft YaHei"/>
                <a:ea typeface="Microsoft YaHei"/>
              </a:rPr>
              <a:t>零真名铁律：对外均匿名呈现，真实主体仅限内部视图，不点名、不暴露商业关系。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0" y="0"/>
            <a:ext cx="1219200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客户广度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我们已走进多家头部造船集团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EvolvIQ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造船行业版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7" name="" descr="&lt;Slide style={{ width: 1280, height: 720, position: 'relative', background: '#F1F5F9' }}&gt;&#10;  &lt;Box style={{ position: 'absolute', top: 0, left: 0, width: '100%', height: 120, background: '#0B2545', justifyContent: 'center', padding: '0 64' }}&gt;&#10;    &lt;Text style={{ fontSize: 34, fontWeight: 'bold', color: '#ffffff', fontFamily: 'Microsoft YaHei' }}&gt;合作进阶 · 迈向智能体深度合作&lt;/Text&gt;&#10;  &lt;/Box&gt;&#10;  &lt;Box style={{ height: 720, padding: '150 64 110 64', flexDirection: 'column', gap: 22 }}&gt;&#10;    &lt;Text style={{ fontSize: 18, color: '#475569', fontFamily: 'Microsoft YaHei', lineHeight: 1.6 }}&gt;G 模式三圈解锁：从免费体验到私有化，由浅入深、零风险起步，逐步迈向智能体深度合作。&lt;/Text&gt;&#10;    &lt;Box style={{ width: '100%', height: 300, background: '#ffffff', borderRadius: 16, padding: 20, justifyContent: 'center', alignItems: 'center', boxShadow: '0 2px 12px rgba(11,37,69,0.06)' }}&gt;&#10;      &lt;svg width='100%' height='100%' viewBox='0 0 1100 280'&gt;&#10;        &lt;circle cx='170' cy='140' r='105' fill='#0B2545' /&gt;&#10;        &lt;text x='170' y='122' fill='#ffffff' fontSize='24' fontFamily='Microsoft YaHei' fontWeight='bold' textAnchor='middle'&gt;外圈&lt;/text&gt;&#10;        &lt;text x='170' y='156' fill='#06B6D4' fontSize='22' fontFamily='Microsoft YaHei' fontWeight='bold' textAnchor='middle'&gt;免费体验&lt;/text&gt;&#10;        &lt;text x='170' y='192' fill='#CBD5E1' fontSize='14' fontFamily='Microsoft YaHei' textAnchor='middle'&gt;零集成 · 注册即入职&lt;/text&gt;&#10;        &lt;text x='360' y='150' fill='#94A3B8' fontSize='30' fontFamily='Microsoft YaHei' textAnchor='middle'&gt;▶&lt;/text&gt;&#10;        &lt;circle cx='550' cy='140' r='105' fill='#2563EB' /&gt;&#10;        &lt;text x='550' y='122' fill='#ffffff' fontSize='24' fontFamily='Microsoft YaHei' fontWeight='bold' textAnchor='middle'&gt;中圈&lt;/text&gt;&#10;        &lt;text x='550' y='156' fill='#ffffff' fontSize='22' fontFamily='Microsoft YaHei' fontWeight='bold' textAnchor='middle'&gt;接 1 源&lt;/text&gt;&#10;        &lt;text x='550' y='192' fill='#DBEAFE' fontSize='14' fontFamily='Microsoft YaHei' textAnchor='middle'&gt;1 路数据 · 实时看板&lt;/text&gt;&#10;        &lt;text x='740' y='150' fill='#94A3B8' fontSize='30' fontFamily='Microsoft YaHei' textAnchor='middle'&gt;▶&lt;/text&gt;&#10;        &lt;circle cx='930' cy='140' r='105' fill='#06B6D4' /&gt;&#10;        &lt;text x='930' y='122' fill='#0B2545' fontSize='24' fontFamily='Microsoft YaHei' fontWeight='bold' textAnchor='middle'&gt;内圈&lt;/text&gt;&#10;        &lt;text x='930' y='156' fill='#0B2545' fontSize='22' fontFamily='Microsoft YaHei' fontWeight='bold' textAnchor='middle'&gt;私有化&lt;/text&gt;&#10;        &lt;text x='930' y='192' fill='#0B2545' fontSize='14' fontFamily='Microsoft YaHei' textAnchor='middle'&gt;本地部署 · 全量智能体&lt;/text&gt;&#10;      &lt;/svg&gt;&#10;    &lt;/Box&gt;&#10;    &lt;Box style={{ flexDirection: 'row', gap: 28 }}&gt;&#10;      &lt;Box style={{ flex: 1, background: 'linear-gradient(135deg, #0B2545 0%, #2563EB 100%)', borderRadius: 12, padding: '18 22' }}&gt;&#10;        &lt;Text style={{ fontSize: 16, color: '#06B6D4', fontFamily: 'Microsoft YaHei', fontWeight: 'bold' }}&gt;北极星指标 · 决策实时化率&lt;/Text&gt;&#10;        &lt;Text style={{ fontSize: 24, color: '#ffffff', fontFamily: 'Microsoft YaHei', fontWeight: 'bold', marginTop: 8 }}&gt;MVP ≥ 40% → 稳态 ≥ 85%&lt;/Text&gt;&#10;        &lt;Text style={{ fontSize: 14, color: '#CBD5E1', fontFamily: 'Microsoft YaHei', lineHeight: 1.5, marginTop: 6 }}&gt;以决策实时化率衡量价值落地，而非传统签单口径。&lt;/Text&gt;&#10;      &lt;/Box&gt;&#10;      &lt;Box style={{ flex: 1, background: '#ffffff', borderRadius: 12, padding: '18 22', boxShadow: '0 2px 12px rgba(11,37,69,0.06)' }}&gt;&#10;        &lt;Text style={{ fontSize: 16, color: '#0B2545', fontFamily: 'Microsoft YaHei', fontWeight: 'bold' }}&gt;建议试点切入点&lt;/Text&gt;&#10;        &lt;Text style={{ fontSize: 16, color: '#475569', fontFamily: 'Microsoft YaHei', lineHeight: 1.7, marginTop: 8 }}&gt;从「设备健康 + 质量一次合格率」双场景切入，快速验证决策实时化率提升。&lt;/Text&gt;&#10;      &lt;/Box&gt;&#10;    &lt;/Box&gt;&#10;  &lt;/Box&gt;&#10;  &lt;Box style={{ position: 'absolute', bottom: 0, left: 0, width: '100%', height: 60, flexDirection: 'row', justifyContent: 'space-between', alignItems: 'center', padding: '0 64' }}&gt;&#10;    &lt;Text style={{ fontSize: 14, color: '#475569', fontFamily: 'Microsoft YaHei' }}&gt;智衍 EvolvIQ · 造船行业版&lt;/Text&gt;&#10;    &lt;Text style={{ fontSize: 14, color: '#475569', fontFamily: 'Microsoft YaHei' }}&gt;12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9600" y="1428750"/>
            <a:ext cx="109728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G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模式三圈解锁：从免费体验到私有化，由浅入深、零风险起步，逐步迈向智能体深度合作。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09600" y="1971675"/>
            <a:ext cx="1097280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2162175"/>
            <a:ext cx="10591800" cy="2476500"/>
          </a:xfrm>
          <a:prstGeom prst="rect">
            <a:avLst/>
          </a:prstGeom>
          <a:ln/>
        </p:spPr>
      </p:pic>
      <p:sp>
        <p:nvSpPr>
          <p:cNvPr id="62" name=""/>
          <p:cNvSpPr/>
          <p:nvPr/>
        </p:nvSpPr>
        <p:spPr>
          <a:xfrm rot="0" flipH="0" flipV="0">
            <a:off x="609600" y="5038725"/>
            <a:ext cx="5353050" cy="1238250"/>
          </a:xfrm>
          <a:prstGeom prst="roundRect">
            <a:avLst>
              <a:gd name="adj" fmla="val 9231"/>
            </a:avLst>
          </a:prstGeom>
          <a:gradFill>
            <a:gsLst>
              <a:gs pos="0">
                <a:srgbClr val="0B2545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19150" y="5210175"/>
            <a:ext cx="493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B6D4"/>
                </a:solidFill>
                <a:latin typeface="Microsoft YaHei"/>
                <a:ea typeface="Microsoft YaHei"/>
              </a:rPr>
              <a:t>北极星指标</a:t>
            </a:r>
            <a:r>
              <a:rPr lang="en-US" sz="1200" b="1">
                <a:solidFill>
                  <a:srgbClr val="06B6D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06B6D4"/>
                </a:solidFill>
                <a:latin typeface="Microsoft YaHei"/>
                <a:ea typeface="Microsoft YaHei"/>
              </a:rPr>
              <a:t>决策实时化率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19150" y="5476875"/>
            <a:ext cx="4933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MVP ≥ 40% → 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稳态</a:t>
            </a: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≥ 85%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19150" y="5810250"/>
            <a:ext cx="4933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D5E1"/>
                </a:solidFill>
                <a:latin typeface="Microsoft YaHei"/>
                <a:ea typeface="Microsoft YaHei"/>
              </a:rPr>
              <a:t>以决策实时化率衡量价值落地，而非传统签单口径。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229350" y="5038725"/>
            <a:ext cx="535305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438900" y="5210175"/>
            <a:ext cx="493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545"/>
                </a:solidFill>
                <a:latin typeface="Microsoft YaHei"/>
                <a:ea typeface="Microsoft YaHei"/>
              </a:rPr>
              <a:t>建议试点切入点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438900" y="5476875"/>
            <a:ext cx="49339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从「设备健康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质量一次合格率」双场景切入，快速验证决策实时化率提升。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0" y="0"/>
            <a:ext cx="1219200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合作进阶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迈向智能体深度合作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EvolvIQ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造船行业版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73" name="" descr="&lt;Slide style={{ width: 1280, height: 720, position: 'relative', background: '#F1F5F9' }}&gt;&#10;  &lt;Box style={{ position: 'absolute', top: 0, left: 0, width: '100%', height: 120, background: '#0B2545', justifyContent: 'center', padding: '0 64' }}&gt;&#10;    &lt;Text style={{ fontSize: 34, fontWeight: 'bold', color: '#ffffff', fontFamily: 'Microsoft YaHei' }}&gt;如何开启：双模开户&lt;/Text&gt;&#10;  &lt;/Box&gt;&#10;  &lt;Box style={{ height: 720, padding: '150 64 120 64', flexDirection: 'row', gap: 40 }}&gt;&#10;    &lt;Box style={{ width: '32%', height: '100%', background: 'linear-gradient(135deg, #0B2545 0%, #2563EB 100%)', borderRadius: 16, padding: '32 28', flexDirection: 'column', justifyContent: 'center' }}&gt;&#10;      &lt;Text style={{ fontSize: 18, color: '#06B6D4', fontFamily: 'Microsoft YaHei', fontWeight: 'bold' }}&gt;ONBOARDING · 开户&lt;/Text&gt;&#10;      &lt;Text style={{ fontSize: 38, color: '#ffffff', fontFamily: 'Microsoft YaHei', fontWeight: 'bold', marginTop: 14, lineHeight: 1.3 }}&gt;三种通道&lt;br /&gt;同一份画像&lt;/Text&gt;&#10;      &lt;Text style={{ fontSize: 16, color: '#CBD5E1', fontFamily: 'Microsoft YaHei', lineHeight: 1.7, marginTop: 18 }}&gt;注册即入职：首屏预生成企业画像与洞察，TTFV &amp;lt; 60s。&lt;/Text&gt;&#10;    &lt;/Box&gt;&#10;    &lt;Box style={{ flex: 1, height: '100%', flexDirection: 'column', justifyContent: 'space-between' }}&gt;&#10;      &lt;Box style={{ background: '#ffffff', borderRadius: 12, padding: '22 26', boxShadow: '0 2px 12px rgba(11,37,69,0.06)', flexDirection: 'row', alignItems: 'center', gap: 22 }}&gt;&#10;        &lt;Box style={{ width: 54, height: 54, borderRadius: 12, background: '#0B2545', justifyContent: 'center', alignItems: 'center' }}&gt;&#10;          &lt;Text style={{ fontSize: 24, color: '#ffffff', fontFamily: 'Microsoft YaHei', fontWeight: 'bold' }}&gt;01&lt;/Text&gt;&#10;        &lt;/Box&gt;&#10;        &lt;Box style={{ flex: 1 }}&gt;&#10;          &lt;Text style={{ fontSize: 22, fontWeight: 'bold', color: '#0B2545', fontFamily: 'Microsoft YaHei' }}&gt;名片即开户&lt;/Text&gt;&#10;          &lt;Text style={{ fontSize: 16, color: '#475569', fontFamily: 'Microsoft YaHei', lineHeight: 1.6, marginTop: 6 }}&gt;递名片或口述公司名 / 网址即启动，对话中逐步校正画像。&lt;/Text&gt;&#10;        &lt;/Box&gt;&#10;      &lt;/Box&gt;&#10;      &lt;Box style={{ background: '#ffffff', borderRadius: 12, padding: '22 26', boxShadow: '0 2px 12px rgba(11,37,69,0.06)', flexDirection: 'row', alignItems: 'center', gap: 22 }}&gt;&#10;        &lt;Box style={{ width: 54, height: 54, borderRadius: 12, background: '#2563EB', justifyContent: 'center', alignItems: 'center' }}&gt;&#10;          &lt;Text style={{ fontSize: 24, color: '#ffffff', fontFamily: 'Microsoft YaHei', fontWeight: 'bold' }}&gt;02&lt;/Text&gt;&#10;        &lt;/Box&gt;&#10;        &lt;Box style={{ flex: 1 }}&gt;&#10;          &lt;Text style={{ fontSize: 22, fontWeight: 'bold', color: '#0B2545', fontFamily: 'Microsoft YaHei' }}&gt;表单注册&lt;/Text&gt;&#10;          &lt;Text style={{ fontSize: 16, color: '#475569', fontFamily: 'Microsoft YaHei', lineHeight: 1.6, marginTop: 6 }}&gt;公司名 + 网站 + 公众号 + 选择行业，一键生成企业分身。&lt;/Text&gt;&#10;        &lt;/Box&gt;&#10;      &lt;/Box&gt;&#10;      &lt;Box style={{ background: '#ffffff', borderRadius: 12, padding: '22 26', boxShadow: '0 2px 12px rgba(11,37,69,0.06)', flexDirection: 'row', alignItems: 'center', gap: 22 }}&gt;&#10;        &lt;Box style={{ width: 54, height: 54, borderRadius: 12, background: '#06B6D4', justifyContent: 'center', alignItems: 'center' }}&gt;&#10;          &lt;Text style={{ fontSize: 24, color: '#ffffff', fontFamily: 'Microsoft YaHei', fontWeight: 'bold' }}&gt;03&lt;/Text&gt;&#10;        &lt;/Box&gt;&#10;        &lt;Box style={{ flex: 1 }}&gt;&#10;          &lt;Text style={{ fontSize: 22, fontWeight: 'bold', color: '#0B2545', fontFamily: 'Microsoft YaHei' }}&gt;事件二维码&lt;/Text&gt;&#10;          &lt;Text style={{ fontSize: 16, color: '#475569', fontFamily: 'Microsoft YaHei', lineHeight: 1.6, marginTop: 6 }}&gt;演讲现场扫码即开启个性化战略，把一次演讲变成一次开通。&lt;/Text&gt;&#10;        &lt;/Box&gt;&#10;      &lt;/Box&gt;&#10;    &lt;/Box&gt;&#10;  &lt;/Box&gt;&#10;  &lt;Box style={{ position: 'absolute', bottom: 0, left: 0, width: '100%', height: 60, flexDirection: 'row', justifyContent: 'space-between', alignItems: 'center', padding: '0 64' }}&gt;&#10;    &lt;Text style={{ fontSize: 14, color: '#475569', fontFamily: 'Microsoft YaHei' }}&gt;智衍 EvolvIQ · 造船行业版&lt;/Text&gt;&#10;    &lt;Text style={{ fontSize: 14, color: '#475569', fontFamily: 'Microsoft YaHei' }}&gt;13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609600" y="1428750"/>
            <a:ext cx="3514725" cy="4286250"/>
          </a:xfrm>
          <a:prstGeom prst="roundRect">
            <a:avLst>
              <a:gd name="adj" fmla="val 4336"/>
            </a:avLst>
          </a:prstGeom>
          <a:gradFill>
            <a:gsLst>
              <a:gs pos="0">
                <a:srgbClr val="0B2545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76300" y="2438400"/>
            <a:ext cx="2981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B6D4"/>
                </a:solidFill>
                <a:latin typeface="Microsoft YaHei"/>
                <a:ea typeface="Microsoft YaHei"/>
              </a:rPr>
              <a:t xml:space="preserve">ONBOARDING · </a:t>
            </a:r>
            <a:r>
              <a:rPr lang="zh-CN" sz="1350" b="1">
                <a:solidFill>
                  <a:srgbClr val="06B6D4"/>
                </a:solidFill>
                <a:latin typeface="Microsoft YaHei"/>
                <a:ea typeface="Microsoft YaHei"/>
              </a:rPr>
              <a:t>开户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76300" y="2781300"/>
            <a:ext cx="2981325" cy="1133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三种通道</a:t>
            </a:r>
            <a:endParaRPr/>
          </a:p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同一份画像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76300" y="4086225"/>
            <a:ext cx="29813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注册即入职：首屏预生成企业画像与洞察，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>TTFV &lt; 60s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505325" y="1428750"/>
            <a:ext cx="707707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4752975" y="1685925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867275" y="18097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476875" y="1638300"/>
            <a:ext cx="5857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名片即开户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476875" y="1952625"/>
            <a:ext cx="58578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递名片或口述公司名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网址即启动，对话中逐步校正画像。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505325" y="3057525"/>
            <a:ext cx="707707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4752975" y="33147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867275" y="343852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476875" y="3267075"/>
            <a:ext cx="5857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表单注册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476875" y="3581400"/>
            <a:ext cx="58578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公司名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网站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公众号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选择行业，一键生成企业分身。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505325" y="4686300"/>
            <a:ext cx="7077075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B2545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4752975" y="4943475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867275" y="506730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476875" y="4895850"/>
            <a:ext cx="5857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2545"/>
                </a:solidFill>
                <a:latin typeface="Microsoft YaHei"/>
                <a:ea typeface="Microsoft YaHei"/>
              </a:rPr>
              <a:t>事件二维码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476875" y="5210175"/>
            <a:ext cx="58578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演讲现场扫码即开启个性化战略，把一次演讲变成一次开通。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0" y="0"/>
            <a:ext cx="1219200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如何开启：双模开户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571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智衍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EvolvIQ · </a:t>
            </a:r>
            <a:r>
              <a:rPr lang="zh-CN" sz="1050">
                <a:solidFill>
                  <a:srgbClr val="475569"/>
                </a:solidFill>
                <a:latin typeface="Microsoft YaHei"/>
                <a:ea typeface="Microsoft YaHei"/>
              </a:rPr>
              <a:t>造船行业版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98" name="" descr="&lt;Slide style={{ width: 1280, height: 720, position: 'relative', background: '#0B2545' }}&gt;&#10;  &lt;Box style={{ position: 'absolute', top: 0, left: 0, width: '100%', height: '100%', flexDirection: 'column', justifyContent: 'center', alignItems: 'center', gap: 30, padding: '60 64' }}&gt;&#10;    &lt;Text style={{ fontSize: 18, color: '#06B6D4', fontFamily: 'Microsoft YaHei', fontWeight: 'bold', letterSpacing: '3px' }}&gt;智衍 EvolvIQ · 造船行业版&lt;/Text&gt;&#10;    &lt;Text style={{ fontSize: 56, fontWeight: 'bold', color: '#ffffff', fontFamily: 'Microsoft YaHei', lineHeight: 1.25, textAlign: 'center' }}&gt;让每艘船，&lt;br /&gt;都有可对话的决策分身&lt;/Text&gt;&#10;    &lt;Box style={{ width: 240, height: 300, borderRadius: 16, overflow: 'hidden', background: '#ffffff' }}&gt;&#10;      &lt;Image src=&quot;assets/qrcode_card.png&quot; style={{ width: '100%', height: '100%', objectFit: 'contain' }} /&gt;&#10;    &lt;/Box&gt;&#10;    &lt;Text style={{ fontSize: 18, color: '#E2E8F0', fontFamily: 'Microsoft YaHei' }}&gt;扫码体验 Demo ｜ 账号 &lt;Text style={{ color: '#06B6D4', fontWeight: 'bold', fontFamily: 'Microsoft YaHei' }}&gt;demo&lt;/Text&gt; / 密码 &lt;Text style={{ color: '#06B6D4', fontWeight: 'bold', fontFamily: 'Microsoft YaHei' }}&gt;EvolvIQ2026&lt;/Text&gt;&lt;/Text&gt;&#10;    &lt;Text style={{ fontSize: 14, color: '#94A3B8', fontFamily: 'Microsoft YaHei' }}&gt;杜玉河 · 工业 5 点 0 产业生态联盟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800600" y="342900"/>
            <a:ext cx="2600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225">
                <a:solidFill>
                  <a:srgbClr val="06B6D4"/>
                </a:solidFill>
                <a:latin typeface="Microsoft YaHei"/>
                <a:ea typeface="Microsoft YaHei"/>
              </a:rPr>
              <a:t>智衍</a:t>
            </a:r>
            <a:r>
              <a:rPr lang="en-US" sz="1350" b="1" spc="225">
                <a:solidFill>
                  <a:srgbClr val="06B6D4"/>
                </a:solidFill>
                <a:latin typeface="Microsoft YaHei"/>
                <a:ea typeface="Microsoft YaHei"/>
              </a:rPr>
              <a:t xml:space="preserve"> EvolvIQ · </a:t>
            </a:r>
            <a:r>
              <a:rPr lang="zh-CN" sz="1350" b="1" spc="225">
                <a:solidFill>
                  <a:srgbClr val="06B6D4"/>
                </a:solidFill>
                <a:latin typeface="Microsoft YaHei"/>
                <a:ea typeface="Microsoft YaHei"/>
              </a:rPr>
              <a:t>造船行业版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429000" y="838200"/>
            <a:ext cx="5334000" cy="160020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让每艘船，</a:t>
            </a:r>
            <a:endParaRPr/>
          </a:p>
          <a:p>
            <a:pPr algn="ctr">
              <a:lnSpc>
                <a:spcPct val="125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都有可对话的决策分身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4953000" y="2724150"/>
            <a:ext cx="2286000" cy="2857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03" name=""/>
          <p:cNvPicPr>
            <a:picLocks noChangeAspect="1"/>
          </p:cNvPicPr>
          <p:nvPr/>
        </p:nvPicPr>
        <p:blipFill>
          <a:blip r:embed="rId1"/>
          <a:srcRect l="0" t="3125" r="0" b="3125"/>
          <a:stretch>
            <a:fillRect/>
          </a:stretch>
        </p:blipFill>
        <p:spPr>
          <a:xfrm rot="0" flipH="0" flipV="0">
            <a:off x="4953000" y="2724150"/>
            <a:ext cx="2286000" cy="2857500"/>
          </a:xfrm>
          <a:custGeom>
            <a:pathLst>
              <a:path w="240" h="300">
                <a:moveTo>
                  <a:pt x="224" y="0"/>
                </a:moveTo>
                <a:cubicBezTo>
                  <a:pt x="233" y="0"/>
                  <a:pt x="240" y="7"/>
                  <a:pt x="240" y="16"/>
                </a:cubicBezTo>
                <a:lnTo>
                  <a:pt x="240" y="284"/>
                </a:lnTo>
                <a:cubicBezTo>
                  <a:pt x="240" y="293"/>
                  <a:pt x="233" y="300"/>
                  <a:pt x="224" y="300"/>
                </a:cubicBezTo>
                <a:lnTo>
                  <a:pt x="16" y="300"/>
                </a:lnTo>
                <a:cubicBezTo>
                  <a:pt x="7" y="300"/>
                  <a:pt x="0" y="293"/>
                  <a:pt x="0" y="28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224" y="0"/>
                </a:lnTo>
                <a:close/>
              </a:path>
            </a:pathLst>
          </a:custGeom>
          <a:ln/>
        </p:spPr>
      </p:pic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114800" y="5867400"/>
            <a:ext cx="3971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扫码体验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Demo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｜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账号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demo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密码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EvolvIQ2026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086350" y="636270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杜玉河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工业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点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产业生态联盟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2026-10-16T21:00:17Z</dcterms:created>
  <dcterms:modified xsi:type="dcterms:W3CDTF">2026-10-16T21:00:17Z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{"AIGC":{"Label":"1","ContentProducer":"00119111010856365494821B355","ProduceID":"077e096895064b8090cf09ceea199187","ReservedCode1":"","ContentPropagator":"00119111010856365494821B355","PropagateID":"077e096895064b8090cf09ceea199187","ReservedCode2":""}}</vt:lpwstr>
  </property>
</Properties>
</file>